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47dc4f8bb4824" /><Relationship Type="http://schemas.openxmlformats.org/officeDocument/2006/relationships/extended-properties" Target="/docProps/app.xml" Id="R8af58e6817e84cad" /><Relationship Type="http://schemas.openxmlformats.org/officeDocument/2006/relationships/officeDocument" Target="/ppt/presentation.xml" Id="R2e84a1efa149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61ee4919a147dd"/>
  </p:sldMasterIdLst>
  <p:notesMasterIdLst>
    <p:notesMasterId xmlns:r="http://schemas.openxmlformats.org/officeDocument/2006/relationships" r:id="R6b956d1bcf2741ea"/>
  </p:notesMasterIdLst>
  <p:sldIdLst>
    <p:sldId xmlns:r="http://schemas.openxmlformats.org/officeDocument/2006/relationships" id="256" r:id="R0ea2f9005f954b75"/>
    <p:sldId xmlns:r="http://schemas.openxmlformats.org/officeDocument/2006/relationships" id="257" r:id="Rcec990aba4dc4463"/>
    <p:sldId xmlns:r="http://schemas.openxmlformats.org/officeDocument/2006/relationships" id="258" r:id="R30daf3c4ec734659"/>
    <p:sldId xmlns:r="http://schemas.openxmlformats.org/officeDocument/2006/relationships" id="259" r:id="Re2fdf66faf20420f"/>
    <p:sldId xmlns:r="http://schemas.openxmlformats.org/officeDocument/2006/relationships" id="260" r:id="R606f131ff355496e"/>
    <p:sldId xmlns:r="http://schemas.openxmlformats.org/officeDocument/2006/relationships" id="261" r:id="R27589701ce40434c"/>
    <p:sldId xmlns:r="http://schemas.openxmlformats.org/officeDocument/2006/relationships" id="262" r:id="R61e1f6ef6d2e4feb"/>
    <p:sldId xmlns:r="http://schemas.openxmlformats.org/officeDocument/2006/relationships" id="263" r:id="R3a5798e3ded84224"/>
    <p:sldId xmlns:r="http://schemas.openxmlformats.org/officeDocument/2006/relationships" id="264" r:id="R0b626d6476bc44ae"/>
    <p:sldId xmlns:r="http://schemas.openxmlformats.org/officeDocument/2006/relationships" id="265" r:id="Rc42ca289145447c1"/>
    <p:sldId xmlns:r="http://schemas.openxmlformats.org/officeDocument/2006/relationships" id="266" r:id="R023999348a194786"/>
    <p:sldId xmlns:r="http://schemas.openxmlformats.org/officeDocument/2006/relationships" id="267" r:id="Rf942122e353f4681"/>
    <p:sldId xmlns:r="http://schemas.openxmlformats.org/officeDocument/2006/relationships" id="268" r:id="R305c406955b64b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1ee4919a147dd" /><Relationship Type="http://schemas.openxmlformats.org/officeDocument/2006/relationships/theme" Target="/ppt/theme/theme1.xml" Id="Rc5121ee0b4d34db0" /><Relationship Type="http://schemas.openxmlformats.org/officeDocument/2006/relationships/notesMaster" Target="/ppt/notesMasters/notesMaster1.xml" Id="R6b956d1bcf2741ea" /><Relationship Type="http://schemas.openxmlformats.org/officeDocument/2006/relationships/presProps" Target="/ppt/presProps.xml" Id="R7bc31e6ba1124e2e" /><Relationship Type="http://schemas.openxmlformats.org/officeDocument/2006/relationships/viewProps" Target="/ppt/viewProps.xml" Id="R3224489be35d4c16" /><Relationship Type="http://schemas.openxmlformats.org/officeDocument/2006/relationships/tableStyles" Target="/ppt/tableStyles.xml" Id="R032dba4c1f1c4c61" /><Relationship Type="http://schemas.openxmlformats.org/officeDocument/2006/relationships/slide" Target="/ppt/slides/slide1.xml" Id="R0ea2f9005f954b75" /><Relationship Type="http://schemas.openxmlformats.org/officeDocument/2006/relationships/slide" Target="/ppt/slides/slide2.xml" Id="Rcec990aba4dc4463" /><Relationship Type="http://schemas.openxmlformats.org/officeDocument/2006/relationships/slide" Target="/ppt/slides/slide3.xml" Id="R30daf3c4ec734659" /><Relationship Type="http://schemas.openxmlformats.org/officeDocument/2006/relationships/slide" Target="/ppt/slides/slide4.xml" Id="Re2fdf66faf20420f" /><Relationship Type="http://schemas.openxmlformats.org/officeDocument/2006/relationships/slide" Target="/ppt/slides/slide5.xml" Id="R606f131ff355496e" /><Relationship Type="http://schemas.openxmlformats.org/officeDocument/2006/relationships/slide" Target="/ppt/slides/slide6.xml" Id="R27589701ce40434c" /><Relationship Type="http://schemas.openxmlformats.org/officeDocument/2006/relationships/slide" Target="/ppt/slides/slide7.xml" Id="R61e1f6ef6d2e4feb" /><Relationship Type="http://schemas.openxmlformats.org/officeDocument/2006/relationships/slide" Target="/ppt/slides/slide8.xml" Id="R3a5798e3ded84224" /><Relationship Type="http://schemas.openxmlformats.org/officeDocument/2006/relationships/slide" Target="/ppt/slides/slide9.xml" Id="R0b626d6476bc44ae" /><Relationship Type="http://schemas.openxmlformats.org/officeDocument/2006/relationships/slide" Target="/ppt/slides/slide10.xml" Id="Rc42ca289145447c1" /><Relationship Type="http://schemas.openxmlformats.org/officeDocument/2006/relationships/slide" Target="/ppt/slides/slide11.xml" Id="R023999348a194786" /><Relationship Type="http://schemas.openxmlformats.org/officeDocument/2006/relationships/slide" Target="/ppt/slides/slide12.xml" Id="Rf942122e353f4681" /><Relationship Type="http://schemas.openxmlformats.org/officeDocument/2006/relationships/slide" Target="/ppt/slides/slide13.xml" Id="R305c406955b64b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4e6f2d4711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2f95b7e014ea2" /><Relationship Type="http://schemas.openxmlformats.org/officeDocument/2006/relationships/notesMaster" Target="/ppt/notesMasters/notesMaster1.xml" Id="Rd08650257d6747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94efaad0214e1e" /><Relationship Type="http://schemas.openxmlformats.org/officeDocument/2006/relationships/notesMaster" Target="/ppt/notesMasters/notesMaster1.xml" Id="Rfcc73a6c31ab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faf2209050489f" /><Relationship Type="http://schemas.openxmlformats.org/officeDocument/2006/relationships/notesMaster" Target="/ppt/notesMasters/notesMaster1.xml" Id="R11ec7b62d0ce4a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5798994139496a" /><Relationship Type="http://schemas.openxmlformats.org/officeDocument/2006/relationships/notesMaster" Target="/ppt/notesMasters/notesMaster1.xml" Id="R7cd945993928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1c54d3d2fe4187" /><Relationship Type="http://schemas.openxmlformats.org/officeDocument/2006/relationships/notesMaster" Target="/ppt/notesMasters/notesMaster1.xml" Id="R28d07440c911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5b2b0831ef44f2" /><Relationship Type="http://schemas.openxmlformats.org/officeDocument/2006/relationships/notesMaster" Target="/ppt/notesMasters/notesMaster1.xml" Id="R53ae2496497c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706cfab2745df" /><Relationship Type="http://schemas.openxmlformats.org/officeDocument/2006/relationships/notesMaster" Target="/ppt/notesMasters/notesMaster1.xml" Id="Ra279212cc534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93a0b32a414193" /><Relationship Type="http://schemas.openxmlformats.org/officeDocument/2006/relationships/notesMaster" Target="/ppt/notesMasters/notesMaster1.xml" Id="Rd5a45e034e0d4a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c9ce4b48aa437d" /><Relationship Type="http://schemas.openxmlformats.org/officeDocument/2006/relationships/notesMaster" Target="/ppt/notesMasters/notesMaster1.xml" Id="Rc2a1466ab21945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63ff4461b94e73" /><Relationship Type="http://schemas.openxmlformats.org/officeDocument/2006/relationships/notesMaster" Target="/ppt/notesMasters/notesMaster1.xml" Id="Rde16fb8bb1b540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08444729b24fd6" /><Relationship Type="http://schemas.openxmlformats.org/officeDocument/2006/relationships/notesMaster" Target="/ppt/notesMasters/notesMaster1.xml" Id="Rcedeec7770d440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4bdfe6beca44ce" /><Relationship Type="http://schemas.openxmlformats.org/officeDocument/2006/relationships/notesMaster" Target="/ppt/notesMasters/notesMaster1.xml" Id="R32e4c851244746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eeaa6d93684e9e" /><Relationship Type="http://schemas.openxmlformats.org/officeDocument/2006/relationships/notesMaster" Target="/ppt/notesMasters/notesMaster1.xml" Id="R983d7f610aee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ec3df836f46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abda0bb0b04eb8" /><Relationship Type="http://schemas.openxmlformats.org/officeDocument/2006/relationships/slideLayout" Target="/ppt/slideLayouts/slideLayout2.xml" Id="R76317554f485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317554f485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9c54f40314545" /><Relationship Type="http://schemas.openxmlformats.org/officeDocument/2006/relationships/image" Target="/ppt/media/image.png" Id="Rdcabb13f50634208" /><Relationship Type="http://schemas.openxmlformats.org/officeDocument/2006/relationships/notesSlide" Target="/ppt/notesSlides/notesSlide1.xml" Id="R1eaf73f0a5e8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eb885b59104f07" /><Relationship Type="http://schemas.openxmlformats.org/officeDocument/2006/relationships/notesSlide" Target="/ppt/notesSlides/notesSlide2.xml" Id="R1a31b1f8245b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707720fd0b4eb1" /><Relationship Type="http://schemas.openxmlformats.org/officeDocument/2006/relationships/notesSlide" Target="/ppt/notesSlides/notesSlide3.xml" Id="R335d5d0e18d74b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eff3a66f64522" /><Relationship Type="http://schemas.openxmlformats.org/officeDocument/2006/relationships/notesSlide" Target="/ppt/notesSlides/notesSlide4.xml" Id="R0e180a06f36744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b502b3344482e" /><Relationship Type="http://schemas.openxmlformats.org/officeDocument/2006/relationships/image" Target="/ppt/media/image2.png" Id="R0e3cccd574f54414" /><Relationship Type="http://schemas.openxmlformats.org/officeDocument/2006/relationships/notesSlide" Target="/ppt/notesSlides/notesSlide5.xml" Id="R88e9372cc9da40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1875265adf4e6c" /><Relationship Type="http://schemas.openxmlformats.org/officeDocument/2006/relationships/notesSlide" Target="/ppt/notesSlides/notesSlide6.xml" Id="Raae573dd337e45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1e0450f69946c9" /><Relationship Type="http://schemas.openxmlformats.org/officeDocument/2006/relationships/notesSlide" Target="/ppt/notesSlides/notesSlide7.xml" Id="Re5334ba2936148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931672fd7428b" /><Relationship Type="http://schemas.openxmlformats.org/officeDocument/2006/relationships/notesSlide" Target="/ppt/notesSlides/notesSlide8.xml" Id="R4ae9730d23c44f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dab9f123845d1" /><Relationship Type="http://schemas.openxmlformats.org/officeDocument/2006/relationships/image" Target="/ppt/media/image3.png" Id="Rc5eba53ea0a34314" /><Relationship Type="http://schemas.openxmlformats.org/officeDocument/2006/relationships/notesSlide" Target="/ppt/notesSlides/notesSlide9.xml" Id="Rfd8141ee3cd04c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b902aae9f4048" /><Relationship Type="http://schemas.openxmlformats.org/officeDocument/2006/relationships/image" Target="/ppt/media/image4.png" Id="Rcd504a49ce3d43bb" /><Relationship Type="http://schemas.openxmlformats.org/officeDocument/2006/relationships/image" Target="/ppt/media/image5.png" Id="Rf6d35c5071ab4c22" /><Relationship Type="http://schemas.openxmlformats.org/officeDocument/2006/relationships/notesSlide" Target="/ppt/notesSlides/notesSlide10.xml" Id="Rdd72fa2d50474c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dda09ada704f96" /><Relationship Type="http://schemas.openxmlformats.org/officeDocument/2006/relationships/notesSlide" Target="/ppt/notesSlides/notesSlide11.xml" Id="Rc07027112ec248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f32ea03df6488d" /><Relationship Type="http://schemas.openxmlformats.org/officeDocument/2006/relationships/notesSlide" Target="/ppt/notesSlides/notesSlide12.xml" Id="R1e650114a79e48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9947e83854c1d" /><Relationship Type="http://schemas.openxmlformats.org/officeDocument/2006/relationships/notesSlide" Target="/ppt/notesSlides/notesSlide13.xml" Id="R73e54058b7b143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303E0-C89A-4E9D-9539-F7F08EA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9FD22-429B-40E5-B161-D0417B3F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C3B78-E23B-4B97-9E8F-EAEF33A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Schlusspräsentation · UiPath Lösung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D79B0-5EB9-4EB4-8B83-F737371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12C36-8DD8-438E-8AF0-DE2D4CB2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7810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Moodle-to-LLM Study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D9BC5-F61B-4914-BC0F-B39E38A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RPA-Prozess zur automatisierten Auswertung von Moodle-Unterlagen und Erstellung eines Lernplans.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bb13f50634208"/>
          <a:stretch xmlns:a="http://schemas.openxmlformats.org/drawingml/2006/main"/>
        </p:blipFill>
        <p:spPr>
          <a:xfrm xmlns:a="http://schemas.openxmlformats.org/drawingml/2006/main">
            <a:off x="6762750" y="1431727"/>
            <a:ext cx="4714875" cy="294679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E40E5-FDFE-4110-AFFE-CB3D7BE1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05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BDF59-17B7-4130-8BCE-0ACEF91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86626-4E6C-497B-AB6D-4563A0E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Referenzschritte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9E51E-998C-444C-BB25-90922581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manueller Prozess dokumentiert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E8EC4-AB73-4B9A-B196-B1D0372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2305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AC05D-F405-4E12-AE86-12D33F4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35h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16ACC-9ACE-412D-8B8B-DEA54D2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529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Potenzial / Semester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25E1D-D972-4E8D-97A5-2DABF846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482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 Fälle × 15 min × 14 Wochen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C86D0-2FE9-441C-8EA4-5F9D0D9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2305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042E8-5183-449F-AB1F-EA2751ED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A9528-AF96-4401-8EAC-99351F4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529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Moodle-Quellen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CE8C1-131C-4566-BA57-27744F9F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482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 Ergebnis nachgewiesen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AC5D-3A62-4137-8A2E-AA1B7E7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Oliver Schütz · BSc Computational and Data Science · CDS309</a:t>
            </a:r>
          </a:p>
        </p:txBody>
      </p:sp>
    </p:spTree>
    <p:extLst>
      <p:ext uri="{BB962C8B-B14F-4D97-AF65-F5344CB8AC3E}">
        <p14:creationId xmlns:p14="http://schemas.microsoft.com/office/powerpoint/2010/main" val="1077668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0DE3D-1397-4B5B-B903-D5A67A6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DDD52-E9C2-493D-AE57-F17AA853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4E221-9464-454E-9200-ED14C20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0CAC9-0542-4B54-AD2F-925A823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5F045-B4EB-4B91-937D-6B1CDCBC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Was die Präsentation nachweisen muss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D1B58-2DE8-4A57-AE97-3E648D1A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Struktur direkt entlang der Bewertungskriterien der Schlusspräsentation.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B223F-5493-441B-9CEE-6913669C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1023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1FA22-63E6-410C-8ACE-B4A6BE2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509C8-E00C-45A5-92EA-2EC7C1D8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Prozessbeschreibung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F764A-9FFB-4356-A64F-8FAC0880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9877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BPMN-/Flowchart-Logik und 26 dokumentierte Referenzschritte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DBC13-96B9-4F5E-B412-F80073E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1023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E8E80-A201-471C-A95F-E245120D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C669F-B347-4E8F-8126-341B944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Automatisierungsschritte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88CD2-ADC7-41D8-B157-34CA8E7A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38475"/>
            <a:ext cx="9877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konkrete UiPath-, API-, LLM- und Render-Schritte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B1B8C-952F-4CD3-944F-D9B6938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1023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5E7C2-7FFC-48C4-9D95-28ED35FC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0200B-5922-43C3-9A08-24C4F5BE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Herausforderungen &amp; Chancen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2C081-C78F-4294-874A-C9A96C95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9877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reflektiert, fachlich sinnvoll und mit Verbesserungsansätzen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4BE14-DC85-4728-A476-67EA971E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1023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D12DC-3CFD-41A0-B6DB-C16C859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F73DF-4C84-4671-93F6-53A06CF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Fehlerfreier Durchlauf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8223F-D92A-41AE-8F6C-9E7950E2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00575"/>
            <a:ext cx="9877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Nachweis über Video / Output-Screenshots aus Windows-Lauf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E2982-2253-4B9D-8B38-7FF7D8F4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1023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EC14E-AD89-45E3-9E73-AECAC649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57D12-E9BF-4E7B-83A0-8B20036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Formaler Auftritt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3DBF4-4074-4481-A221-67229B0C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81625"/>
            <a:ext cx="9877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klare Story, visuelle Nachweise, saubere Quellenlage</a:t>
            </a:r>
          </a:p>
        </p:txBody>
      </p:sp>
    </p:spTree>
    <p:extLst>
      <p:ext uri="{BB962C8B-B14F-4D97-AF65-F5344CB8AC3E}">
        <p14:creationId xmlns:p14="http://schemas.microsoft.com/office/powerpoint/2010/main" val="21028568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BAC7F-69A9-4692-851F-8A03E04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714D7-4620-47D8-82E0-05C5F095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C0BB-3F8F-49ED-BAA7-6C59435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96A70-0632-4D3F-9063-2892BF46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E648C-E83B-4898-9A9A-059A54CD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Der Prozess ist ein guter RPA-Kandidat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DF3F5-F5DA-4004-9BB2-F4A0B975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Digitale Daten, wiederkehrender Ablauf und klar begrenzte menschliche Prüfpunkte.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7F915-47FB-4A63-B9D5-2AE8E893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238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8AFE1-14EC-4510-9E2A-764E8ED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00831-9C0E-49F9-A37E-72182856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digitaler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1AE6-A25B-4066-88BB-416322B0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819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Moodle-Dateien, JSON, 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4F26B-4468-46DF-A6BB-BD978F44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2238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39862-9DEA-44B2-8E8E-3F62EA48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6215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CFC67-08CB-488B-9228-832EFFF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47925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regelbasiert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83480-6929-4DCA-9A21-9EA50D2C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19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Abruf, Filter, Rendern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622F5-8E14-4988-BBAC-97C0AAB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2238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0EB78-F17B-40A9-BCC5-5AC790BD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6215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A4D7C-2388-4F00-B29C-36483E1E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47925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Wiederholung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9B233-EB19-4ACC-836B-68BF13B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1819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wöchentlich / pro Kurs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B2E10-329F-4CA7-B250-1CDCD0E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238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7C51D-8478-4015-A89D-E2E2E945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1819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3/5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9C021-BD43-4C02-9883-DA0202F9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47925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Ausnahmen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F4394-5C7A-4B27-B42C-4005DACB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1819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LLM-Qualität braucht Prüfung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0246E-EF56-40CE-A696-6A8BF05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Eignungsbegründung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63325-FA38-432F-A19F-171D55FA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F6C44-6D14-4EA6-8BC8-AC286341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Input liegt digital und strukturiert über Moodle/API vor.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D90AA-6FC4-4361-ACEB-53329872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CE2DB-DD84-4F1A-AEC3-2BA41E5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Wiederholte Informationssuche kostet Zeit und erzeugt Copy/Paste-Fehler.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12441-54E6-4B1A-8588-62AFADA8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8361B-0C5B-404F-994A-34F8C0D5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Der Bot automatisiert technische Arbeit, die fachliche Freigabe bleibt sichtbar.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C0F74-D24D-4CCA-AD60-39815AD5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B956F-BDE6-4104-A948-A5BC04DE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Teilautomatisierung ist sinnvoll, weil LLM-Ergebnisse validiert werden müssen.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B2D82-B9EE-430D-9545-EC18346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40D039-9A8C-41C9-8B5A-EB00B897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7F1FE4-F6FF-496E-9BC7-E1D2904E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375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Abgrenzung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EAF258-E8EC-416F-93C7-F94A249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3733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Der Zielprozess ersetzt kein Lernen und keine fachliche Bewertung. Er sammelt Moodle-Inhalte, strukturiert sie und erzeugt einen prüfbaren Lernplan.</a:t>
            </a:r>
          </a:p>
        </p:txBody>
      </p:sp>
    </p:spTree>
    <p:extLst>
      <p:ext uri="{BB962C8B-B14F-4D97-AF65-F5344CB8AC3E}">
        <p14:creationId xmlns:p14="http://schemas.microsoft.com/office/powerpoint/2010/main" val="8060667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6B8AD-AAA0-4CB3-8278-86DD9BFC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B2FF8-24AF-4779-AFC4-239A7C11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61BB2-76D7-4617-8FF8-B2510A2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04F6E-76B0-4BB2-A8EA-E32149F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B1820-B2BB-4A5C-94FF-B999C739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Der Referenzprozess hat 26 sichtbare Schritte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7FE6F-53B9-4F2E-9250-5C87B50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manuelle Variante dient als Aufnahme- und Vergleichsprozess für die Automatisierung.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97FA4-0850-4D97-9750-015D6458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79991-354D-403F-9FB8-DE8E42D8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Initialisierung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05746-D2BD-438B-9689-A81DCB72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954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AB719-8193-4638-9E1B-D713497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38325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Start, Docker/CLI prüfen, Terminal und Browser öffnen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B0C90-55F6-4C11-8E0B-B865F85E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383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0891B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3F1E2-9F1C-4346-B648-2B005E4B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D19D5-451E-446C-9140-5BEAD7EA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Moodle-Daten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20776-89EE-4A35-B397-B31892B4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2987A-51A3-4B29-8B7E-A80D2EF7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Kurse lesen, Ressourcen anzeigen, relevante Datei auswählen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15C3E-DC61-4D3A-84BD-DE3FB9FE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47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CECBD-09B4-4F8F-ADC8-8ED75463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45A4E-6106-4F71-8DB3-85106E78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LLM-Schritt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4B1AD-12E2-4B6E-AC74-2E7BAEF9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0600B-E995-4201-9FE7-E6847449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57575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Inhalt kopieren, Prompt ergänzen, Antwort erzeugen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C35B4-9EC1-408C-B5F9-2813741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57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4F46E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375E5-6397-4DC9-BCBA-43312A6D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7D6CD-A733-46C4-9BAC-F2FDB0A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Validierung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0A526-7C1C-49DF-AB6C-E30E9827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2432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0E716-BC66-4340-84E1-3D1C7A0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Ergebnis prüfen, bei Bedarf Prompt verbessern und erneut ausführen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3E393-829B-444E-A524-DEBA926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672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A580C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BD698-36CC-4049-B3A3-6DD626E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7119E-9387-4F52-A816-1ADB3744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Abschluss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898BF-ED3C-4FA8-8F09-885E2D0B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339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C6DC2B-2826-4EC6-99F0-3D97419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76825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Lernplan übernehmen, speichern und für weitere Kurse wiederholen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122C4-AE86-41E5-A40A-8B1BF30B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Dokumentiert in PROZESS_MANUELLER_ABLAUF.md und PROZESS_AUFZEICHNUNG.md.</a:t>
            </a:r>
          </a:p>
        </p:txBody>
      </p:sp>
    </p:spTree>
    <p:extLst>
      <p:ext uri="{BB962C8B-B14F-4D97-AF65-F5344CB8AC3E}">
        <p14:creationId xmlns:p14="http://schemas.microsoft.com/office/powerpoint/2010/main" val="21376297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0E72D-64A9-45B9-9851-F134786D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D2E99-4D3A-4860-9338-D41B4DF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5E81E-028A-4A00-AF8F-66CDF550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AEDCA-3E68-49D3-B3FC-781341A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722AC-7DA9-4845-8473-831E51F7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Zielarchitektur: UiPath orchestriert APIs statt Browser-Scraping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33CB2-C7AF-4EA6-A4AE-B3F89E30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Der Bot nutzt stabile Schnittstellen und lokale Artefakte; Secrets bleiben außerhalb von Git und Screenshots.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cccd574f54414"/>
          <a:stretch xmlns:a="http://schemas.openxmlformats.org/drawingml/2006/main"/>
        </p:blipFill>
        <p:spPr>
          <a:xfrm xmlns:a="http://schemas.openxmlformats.org/drawingml/2006/main">
            <a:off x="2771775" y="1666875"/>
            <a:ext cx="655320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45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B01D99-D10A-4D65-B2E7-A126166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1E29D-D8BA-4B50-A4A9-24A92B38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7FCAC-8C54-42C7-9BA1-48F6AE80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DF452-8E42-4282-A021-515943AA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8221A-4B98-4168-9CFB-3D49DFF1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BPMN-nahe Prozesslogik mit Validierungsschleife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B70C6-490F-4BE9-8A99-11F58C8B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Schleife hält den LLM-Schritt kontrollierbar: nur valide Ergebnisse werden gespeichert oder versendet.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981C0-BB99-42ED-B1CC-E9BA69A3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4DBB5-7B94-4258-AFFF-6075DA99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14B12-0619-43AF-A413-66C37FDE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2ADD8-161A-4B58-80E9-123CDA1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9072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Kursliste abrufen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44566-A8B4-4167-958B-42BEF20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F0AD8-F564-491B-A618-79E46F0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9072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Ressourcen lesen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0A58E-EB74-4C54-8657-551FE08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4F46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810DF-EF60-4C19-A8E2-474E8619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9072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LLM anfragen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A7337-C42A-46A2-B7B0-06A71B2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A580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F114B-A034-44CB-BE6C-F36E3756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9072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Antwort prüfen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1829D-D881-428A-99F6-C2626D62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A58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3075F-863A-409D-9C4A-B9168954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09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Retry &lt; 3?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66658-8F3D-4938-A70F-E13C613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16381-89AA-44FB-B98F-951C65B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9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Lernplan rendern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57453-660D-4D21-915B-432214F4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596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AA04D-2890-4E3A-8F23-CD9C85C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9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E-Mail optional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1E89F-B1E2-4957-9EB8-A5FCB9A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C0A9A-322A-495C-B3AF-1C3214F0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09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Nächster Kurs?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728EE-471F-4F1F-AD52-4847E3D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F1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1C06F4-63BE-4D0D-98BB-229BA4A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41DF6-EE41-4B3F-B109-BC3F48B8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954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380C5-4D58-4D01-8020-2B43DC6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95475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6CA09-B841-4864-AB4C-A605C298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95475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4CC53-83CD-4004-8861-4460903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95475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9D25E8-DCBD-4BE6-A854-B82E3D1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14575"/>
            <a:ext cx="381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EF402-5A06-426F-AAC2-BDE1164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92ECE-FCAD-4D9A-8B4F-480DE4F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EAE132-E15F-4394-B8EA-18EAB2A5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9975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BA1E0-3895-4FD8-96BB-2F20F21A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99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A911AD-E81E-41A8-BFCB-1C15AB19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6766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687AF-C2B2-416B-AA73-A3753208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59669"/>
                </a:solidFill>
                <a:latin typeface="Aptos"/>
                <a:ea typeface="Aptos"/>
                <a:cs typeface="Aptos"/>
              </a:rPr>
              <a:t>valide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7ADB55-7ABD-40AD-92D7-96A198DF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Exception: Nach drei ungültigen LLM-Antworten wird kein Ergebnis erzwungen; der Fall wird sichtbar als Fehler markiert.</a:t>
            </a:r>
          </a:p>
        </p:txBody>
      </p:sp>
    </p:spTree>
    <p:extLst>
      <p:ext uri="{BB962C8B-B14F-4D97-AF65-F5344CB8AC3E}">
        <p14:creationId xmlns:p14="http://schemas.microsoft.com/office/powerpoint/2010/main" val="16724054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E2F2B-2FC0-4D7C-89D7-F9F7C5E5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2436A-6E97-446D-A0A7-EBD4C0C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E2599-60C0-4B23-AD4F-2270E49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4C32A-217A-4A59-9C11-D53AE3C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5C994-8C43-4829-8F65-0236560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Konkrete Automatisierungsschritte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647B0-A5BB-435A-9A0C-9A8CA4B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Umsetzung bleibt spezifisch: jeder Schritt hat eine technische Aufgabe und ein prüfbares Ergebnis.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5BEBA-7389-45B0-B1F6-5B13CDA5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955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3877C-3E12-4F3A-B588-FA6B904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95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78819-AD69-4B84-B9A4-8D9F5DF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· Vorbereitung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8CDED-9BD7-4897-8908-49F19697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C5990-665C-429E-80BA-BF0B223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.env laden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DDB3D-694C-40C5-B15D-887C996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2C547-B1A6-47D7-B280-E27BA9FC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Semester/Kursfilter setzen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719A0-B953-47E8-9234-422BF48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1BCE1-8F20-42E6-859D-A0650A6F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Output-Ordner pro Lauf anlegen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DF3D0-4256-4794-8024-F936254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C4876-18D2-4AB2-8823-931DB8E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Moodle API erreichbar prüfen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C450D-5774-425A-9E86-8905D6BE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4955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7E81F-906F-4C6E-AF98-3C190A63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495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B69A-8895-4C02-8447-5C20607F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· Daten abrufen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62035-4755-4BD7-A805-6C2641CF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78B9E-F124-4523-87D0-50B856E8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33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Kurse lesen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5DF69-C406-4085-82BF-68DB0DF1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43C5F-8E07-45AC-BF1E-1F3742A1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95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Ressourcen pro Kurs lesen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5491E-B993-49F4-9E37-546EF83D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220DE-FAE1-4117-B53A-77FFD07A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575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relevante Dateien auswählen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D42A0-5BDC-48F5-BF1E-429F53B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68F9AF-08F1-49C4-A4B6-AF81B767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195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Inhalte und Metadaten normalisieren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66266-C7D5-4B45-8212-6F7E3852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955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38069B-489A-4A51-92BF-14F2CFA4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95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E2968-65CD-4F72-AE0A-FD0F8A8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· Generieren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8B0AF-55E7-4E95-8EE6-3B3A7B08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3A4FAF-2518-4385-BA70-6D7B3F6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33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Prompt aus Template bauen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C8516A-E72F-4624-9C42-8E39DAD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1B191-29D8-4B01-BE58-BB006D5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Gemini aufrufen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2831B-E53C-4E02-AA27-E0906197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CF9C7-DDBF-47FB-AE80-C1C90F68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Antwort gegen Pflichtfelder prüfen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CC6809-0195-4D92-AA03-CC60F1C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039588-8AC7-429F-80A4-E003114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Retry bei unvollständigem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7FA1B8-0150-4BF5-B350-B7F73A0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4955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11F711-4C1E-466F-926A-B80FC5F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495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1DD3FB-49D8-45CA-BC65-683F618D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 · Abschluss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725586-931A-46D3-B4D9-8ABA438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E36A82-B1F1-4256-9BA3-64DF16D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336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Markdown speichern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B5D9FD-223D-478B-A261-71F0689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C1E761-84B7-44A6-A541-46C6E424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HTML/PDF rendern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A8AB34-057E-46A8-8352-66E219B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A8E0FF-20E5-4271-90D5-D787D73D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575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Sources JSON mitschreiben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65E79C-B496-437E-8A25-CB9E4B3B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F467F6-DAD0-4B04-91AE-649C638C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E-Mail optional vorbereiten</a:t>
            </a:r>
          </a:p>
        </p:txBody>
      </p:sp>
    </p:spTree>
    <p:extLst>
      <p:ext uri="{BB962C8B-B14F-4D97-AF65-F5344CB8AC3E}">
        <p14:creationId xmlns:p14="http://schemas.microsoft.com/office/powerpoint/2010/main" val="14909221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9A0C7-EAF9-4249-97FE-D6C27B7C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70CFB-1041-4D89-936F-EB5D9F6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26BE2-DFD8-4CB5-A8F4-3E3175A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85D0C-1F33-46A5-A356-4F1418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F44E6-8101-414E-8877-6BEDB1A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UiPath-Implementierung: klarer Orchestrierungsrahmen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8B754-A012-4A56-B5B0-F74B4C7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UiPath übernimmt Start, Konfiguration, Skriptaufrufe, Dateiablage und optionalen Mailversand.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1F58D-4398-4281-B368-3FFB0261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88207-8849-412E-B552-F560B4DC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F539A-25B4-4489-ACED-0F36E641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Main.xaml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823C5-AADD-4208-A8DD-8CB773D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40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Lädt .env oder RPA_ENV_PATH, setzt Moodle-URL, API-Keys, Empfänger, Mail-Flag und Semesterfilter.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72FF5-F402-4DFB-8C61-708D766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7CF61-024E-497B-9FD3-CB595CC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4189F-9152-424A-B739-A4C6D3E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generate_lernplan_markdown.ps1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44ABF-1538-48D9-B3EB-FEDB88D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40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Ruft Moodle Services API ab, bereitet Quellen auf und erzeugt den strukturierten Lernplanentwurf.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4333-DFB5-49B3-8E96-5995F5A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EFC69-89CE-4234-A1A7-214B73C2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00DCC-082C-4714-ADD3-0141B8F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render_lernplan_email.ps1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8F755-E5A0-4BEC-870A-83F7A1DA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440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Rendert Markdown zu HTML/PDF und baut die Abschluss-Mail mit Anhängen oder Mailpit-Testziel.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D9E3D-B0C7-43EE-A91E-31DC29B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E7904-FE58-47EB-8AF5-CA7ED28E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A374D-F9F4-4F11-BDC8-C8037410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compose.yaml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F1663-BB1D-4CB2-9E47-0128379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440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Stellt Moodle API Container und Mailpit lokal bereit; Credentials werden aus .env injiziert.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70FB8-02B5-410F-A010-6A0F819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BF8AE-4FAB-4DEC-B14C-A58F907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72075"/>
            <a:ext cx="960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Git-Schutz: .env ist ignoriert; .env.example dokumentiert nur die Variablennamen MOODLE_USERNAME und MOODLE_PASSWORD.</a:t>
            </a:r>
          </a:p>
        </p:txBody>
      </p:sp>
    </p:spTree>
    <p:extLst>
      <p:ext uri="{BB962C8B-B14F-4D97-AF65-F5344CB8AC3E}">
        <p14:creationId xmlns:p14="http://schemas.microsoft.com/office/powerpoint/2010/main" val="8842514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A7D92-4B1B-427E-A96F-D324C9A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8D442-EC46-49B7-8656-6107E891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89505-EADA-4B08-A76B-15B2571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FA1E6-9BEA-48D9-9A59-D37CA9CD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68451-8674-48AF-880E-8D9E68CE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Durchlaufnachweis: Windows-Run erzeugt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8D4C7-B75C-4EA2-A6B6-6A14CB51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Der erfolgreiche Lauf hat HTML und Sources JSON erzeugt; die finale Abgabe sollte zusätzlich das Prozessvideo verlinken.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ba53ea0a34314"/>
          <a:stretch xmlns:a="http://schemas.openxmlformats.org/drawingml/2006/main"/>
        </p:blipFill>
        <p:spPr>
          <a:xfrm xmlns:a="http://schemas.openxmlformats.org/drawingml/2006/main">
            <a:off x="742950" y="1638300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79B67-BE65-4B49-858E-F8C7A8E5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B8BDE-9C26-4D1D-92E3-1E4C997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Ergebnis vorhanden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4C812-6AC1-4CC0-9CBD-F34FD569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669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HTML + Quellen-JSON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BE28F-A939-4CA9-8030-1EC63A4B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33A1B-473C-4D8F-8A01-ACAB2EC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Keine Secrets sichtbar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61148-98DB-40AE-8812-270C7D17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.env bleibt lokal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1291D-6442-4BCF-ADAE-411D5B5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6D3C1-01B5-4595-93E0-5D6ECC48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Video offen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E4425-A124-41B7-B57D-FF82FCC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Bewertungsraster erlaubt Video als Fehlerfrei-Nachweis.</a:t>
            </a:r>
          </a:p>
        </p:txBody>
      </p:sp>
    </p:spTree>
    <p:extLst>
      <p:ext uri="{BB962C8B-B14F-4D97-AF65-F5344CB8AC3E}">
        <p14:creationId xmlns:p14="http://schemas.microsoft.com/office/powerpoint/2010/main" val="4977046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20673-8090-460A-9CF5-B5B5789C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CFC91-26B4-47C7-99C2-D9C719F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B3D50-1049-4E70-BCD3-8AAEE3F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270D6-479C-48E6-98FD-6366D27F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6BED4-368D-4EFA-B251-35C4349D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Screenshots: Output und Quellen sind nachvollziehbar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C609F-344F-420E-8FE3-E700DE4B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Der Lernplan ist nicht frei erfunden: neben dem HTML wird ein Sources JSON abgelegt.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04a49ce3d43bb"/>
          <a:stretch xmlns:a="http://schemas.openxmlformats.org/drawingml/2006/main"/>
        </p:blipFill>
        <p:spPr>
          <a:xfrm xmlns:a="http://schemas.openxmlformats.org/drawingml/2006/main">
            <a:off x="1385888" y="1676400"/>
            <a:ext cx="3514725" cy="39052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35c5071ab4c22"/>
          <a:stretch xmlns:a="http://schemas.openxmlformats.org/drawingml/2006/main"/>
        </p:blipFill>
        <p:spPr>
          <a:xfrm xmlns:a="http://schemas.openxmlformats.org/drawingml/2006/main">
            <a:off x="6115050" y="2081213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A126D-C264-4E2D-9F79-EE8DA07D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Generierter HTML-Lernplan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4B949-F3E0-426C-9120-7A08F30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340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Quellenliste aus Moodle-Dateien</a:t>
            </a:r>
          </a:p>
        </p:txBody>
      </p:sp>
    </p:spTree>
    <p:extLst>
      <p:ext uri="{BB962C8B-B14F-4D97-AF65-F5344CB8AC3E}">
        <p14:creationId xmlns:p14="http://schemas.microsoft.com/office/powerpoint/2010/main" val="6867811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49A7E-BC84-4E15-B21E-2E5AAE91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6733E-C2DC-4B84-841A-8E6914D8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346A0-2125-46F3-A01B-D995D067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F7007-4A03-4834-85F2-AEA901A2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77647-1A1B-44B1-8553-0BC34D57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Business Case: kleiner Prozess, klarer Lerneffekt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7C04A-EB5E-45FF-89A0-89F579C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Rechnung ist bewusst konservativ und auf den Studienkontext bezogen.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2122E-1D58-4C85-BD2B-79434EF9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6631E-5ABB-4C9F-BB99-AFC3FBF7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0DCBA-1538-4273-9B58-911ED80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Fälle / Woche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5B777-EA45-47DE-92EF-0732F023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Kurse oder Aktualisierungen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55E52-33E2-43D4-9477-CAA4137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C1AC3-1D68-4248-A66D-3F758C1F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7645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BBEB8-3CD8-4A80-98AD-B93AA9AF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manuell / Fall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D9305-3707-4FBB-A2B0-639B61A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Suchen, Kopieren, Prompten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7BAA7-E6AF-4660-8AA7-287C306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3FCEF-E785-4FFE-B6D5-9E02692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51B49-FF99-42CD-A8BC-C6B7C52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Wochen / Semester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FD11F-4087-4A18-BA64-566446D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FS26 als Betrachtungshorizont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2F8C3-E463-4B0E-9599-BD1AF3C3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08F54-A2A8-4806-939C-FFD0E8C1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35h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50C6B-7029-4DA1-9F3B-D72998F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62225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Bruttopotenzial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A5F92-C9E4-4BBC-ABF5-B31D1140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 × 15 min ×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FDA1D-2AE9-4A18-9784-E473C9F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9639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0A442-E2AA-4823-A68C-05CD246E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14825"/>
            <a:ext cx="899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Der wichtigste Nutzen ist nicht nur Zeitersparnis: bessere Nachvollziehbarkeit, weniger Copy/Paste-Fehler und ein wiederholbarer Ablauf für mehrere Kurse.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F2756-DA73-4FBE-8EB5-D1211AD2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ROI-Einschränkung: Für einen einzelnen Studentenprozess ist der monetäre ROI begrenzt; als wiederverwendbarer Organisationsprozess steigt der Nutzen deutlich.</a:t>
            </a:r>
          </a:p>
        </p:txBody>
      </p:sp>
    </p:spTree>
    <p:extLst>
      <p:ext uri="{BB962C8B-B14F-4D97-AF65-F5344CB8AC3E}">
        <p14:creationId xmlns:p14="http://schemas.microsoft.com/office/powerpoint/2010/main" val="6929244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7FB78-3DED-44D2-835B-CD3C16B5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A3FD4-3A74-4697-A6ED-9394AD7C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06AED-7129-4D6C-B738-D8F7E5EC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00413-1A26-437E-8DF0-E6E4C63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18561-293A-4673-9555-FD6DC65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Herausforderungen und Chancen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C4388-AFD7-468C-B5F0-3DB3B08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Lösung ist bewusst hybrid: RPA für Ablaufstabilität, AI für Strukturierung, Mensch für fachliche Kontrolle.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B780D-F93B-4C2F-80A5-77160007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CEF22-FA5A-4511-81A9-9CC1906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1ADF7-BDE5-47A0-B095-8546338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Authentifizierung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A8F56-D9D9-47A7-A275-24F6408E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Moodle-Login und Container-Credentials müssen lokal, sicher und reproduzierbar bleiben.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25363-7439-47D0-ABE6-58688A78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1269A-C713-459D-AE4A-F0DFC55B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3D3C6-EFE5-413E-89EB-3383098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LLM-Qualität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1A281-0F26-47E5-9C67-59E3D202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Antworten brauchen Pflichtfelder, Quellenbezug und Retry-Logik statt blindem Vertrauen.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59791-F15F-47EA-B4F1-41BDA1D5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CF47E-BE9E-4C95-B414-32961AF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8165C-5878-4441-A70D-23DE438C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Windows-Abhängigkeit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9DFC3-A479-4C03-B290-16EC1B7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UiPath Studio läuft auf Windows; Docker Desktop muss für den lokalen API-Stack stabil starten.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068F5-D10A-498A-B8F8-B6E83F2D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C635C-4F26-4BB2-BFF6-AEA347F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8D9EB-11AB-4026-BAB8-97D3C947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Nachweisführung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64828-0DEC-4531-8E6E-74FAA60D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Screenshots, Quellen-JSON und Video müssen Secrets verbergen und trotzdem den Ablauf belegen.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6F45A-4F4A-405A-8DEA-5AE34E43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988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3C337-5D4D-4BAD-BB8E-AA0CCECD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A0989-5734-4EA0-A498-993D58E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954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6C76C-06F2-4420-9D1E-FA98ABE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Architektur kann später auf mehrere Kurse, weitere Datenquellen und einen kontrollierten Mail-/Kalender-Output erweitert werden.</a:t>
            </a:r>
          </a:p>
        </p:txBody>
      </p:sp>
    </p:spTree>
    <p:extLst>
      <p:ext uri="{BB962C8B-B14F-4D97-AF65-F5344CB8AC3E}">
        <p14:creationId xmlns:p14="http://schemas.microsoft.com/office/powerpoint/2010/main" val="16402085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C7F691-047C-4B74-98FD-1D88AC2F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3F995-EE5C-414A-8AE4-98B48CE0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85294-B254-4F5A-A97D-E0581CC1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FS26 · Hyperautomation und RPA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CD7B0-4900-4893-A6B3-AA6D356A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CDS309 RPA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5A652-7C0B-4D05-8037-2110E213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Status und nächste Schritte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F3E96-78AF-4E28-A611-82C9673C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Die fachliche Story und der Output-Nachweis stehen; der finale Lauf sollte als Video aufgezeichnet werden.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5234F-F251-4389-BD9F-BABD9724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381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04C82-2D83-455F-AD3E-FEEC4F73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Erledigt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5586C-240A-4A80-8165-434A299F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8EEEC-4FBA-4C54-AA31-8992919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Prozess dokumentiert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9517-AAD4-45CA-9F92-D5EB768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9A01-0851-4241-8132-ED6C4334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SDD/PQD-Kriterien abgedeckt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2522E-36BB-426A-87F5-A3EB94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A8D94-65E7-4239-BE84-869CCEB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Windows-Output kopiert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4A34C-49E5-419F-AA7D-7704C871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99D4E-674D-4D44-B161-C59A18A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Screenshots für Folien erzeugt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1E046-A2F5-42EB-8096-C266267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381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67513-A22C-4B52-B29F-EE134D3E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Noch zu finalisieren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4562B-F891-430A-BEE5-DFC9BF07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59B6E-FA18-4CE9-839E-6C6293FD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Desktop per Parsec stabil starten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008FD-FB30-4CF5-A5B9-5F81214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0474E-9BAE-49CD-87FE-43D5DF38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durchgehendes Prozessvideo aufnehmen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9EFCE-4977-4F61-8935-F53605B8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29F7C-74C9-4D9B-99BC-942A89F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Video-Link in Aufzeichnungsdatei eintragen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1AA38-C401-48BF-880A-1AC7102C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3618A-EDE5-4BB8-80D1-5BE73B7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Schriftliche Arbeit final bebildern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68108-D44A-48E3-8794-4E7DBACD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Raum für Fragen</a:t>
            </a:r>
          </a:p>
        </p:txBody>
      </p:sp>
    </p:spTree>
    <p:extLst>
      <p:ext uri="{BB962C8B-B14F-4D97-AF65-F5344CB8AC3E}">
        <p14:creationId xmlns:p14="http://schemas.microsoft.com/office/powerpoint/2010/main" val="1134193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2026-05-30T19:24:19.8300000Z</dcterms:created>
  <dcterms:modified xsi:type="dcterms:W3CDTF">2026-05-30T19:24:19.8300000Z</dcterms:modified>
</coreProperties>
</file>