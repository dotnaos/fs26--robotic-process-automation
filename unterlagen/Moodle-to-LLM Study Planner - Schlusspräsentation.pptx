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76c1d3316024e78" Type="http://schemas.openxmlformats.org/officeDocument/2006/relationships/officeDocument" Target="ppt/presentation.xml"/><Relationship Id="R28c334f7a25a42a3" Type="http://schemas.openxmlformats.org/officeDocument/2006/relationships/extended-properties" Target="docProps/app.xml"/><Relationship Id="Rd54cd3434eb94a7a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c1f601d6f947e7"/>
  </p:sldMasterIdLst>
  <p:notesMasterIdLst>
    <p:notesMasterId xmlns:r="http://schemas.openxmlformats.org/officeDocument/2006/relationships" r:id="R22ef729e57b540b3"/>
  </p:notesMasterIdLst>
  <p:sldIdLst>
    <p:sldId xmlns:r="http://schemas.openxmlformats.org/officeDocument/2006/relationships" id="256" r:id="R0fd43b25194e4e7c"/>
    <p:sldId xmlns:r="http://schemas.openxmlformats.org/officeDocument/2006/relationships" id="257" r:id="R6af1f7cf2ee047b5"/>
    <p:sldId xmlns:r="http://schemas.openxmlformats.org/officeDocument/2006/relationships" id="258" r:id="R38626e7e826441cf"/>
    <p:sldId xmlns:r="http://schemas.openxmlformats.org/officeDocument/2006/relationships" id="259" r:id="Rc0dd13cee0f748a8"/>
    <p:sldId xmlns:r="http://schemas.openxmlformats.org/officeDocument/2006/relationships" id="260" r:id="R8488d8392e3e4a92"/>
    <p:sldId xmlns:r="http://schemas.openxmlformats.org/officeDocument/2006/relationships" id="261" r:id="R6061f2ad5814420f"/>
    <p:sldId xmlns:r="http://schemas.openxmlformats.org/officeDocument/2006/relationships" id="262" r:id="R1901c74175b54aab"/>
    <p:sldId xmlns:r="http://schemas.openxmlformats.org/officeDocument/2006/relationships" id="263" r:id="R7ed65a8d5bc54e8e"/>
    <p:sldId xmlns:r="http://schemas.openxmlformats.org/officeDocument/2006/relationships" id="264" r:id="Rb5ab53858e734787"/>
    <p:sldId xmlns:r="http://schemas.openxmlformats.org/officeDocument/2006/relationships" id="265" r:id="R957bac55b5ba49a0"/>
    <p:sldId xmlns:r="http://schemas.openxmlformats.org/officeDocument/2006/relationships" id="266" r:id="R9103b5d022a04765"/>
    <p:sldId xmlns:r="http://schemas.openxmlformats.org/officeDocument/2006/relationships" id="267" r:id="R669c4cb966a647a6"/>
    <p:sldId xmlns:r="http://schemas.openxmlformats.org/officeDocument/2006/relationships" id="268" r:id="R3b940b3920e6421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0f6200bcc5344a37" Type="http://schemas.openxmlformats.org/officeDocument/2006/relationships/theme" Target="theme/theme1.xml"/><Relationship Id="R0fd43b25194e4e7c" Type="http://schemas.openxmlformats.org/officeDocument/2006/relationships/slide" Target="slides/slide1.xml"/><Relationship Id="R1901c74175b54aab" Type="http://schemas.openxmlformats.org/officeDocument/2006/relationships/slide" Target="slides/slide7.xml"/><Relationship Id="R2234b246e63e4442" Type="http://schemas.openxmlformats.org/officeDocument/2006/relationships/viewProps" Target="viewProps.xml"/><Relationship Id="R22ef729e57b540b3" Type="http://schemas.openxmlformats.org/officeDocument/2006/relationships/notesMaster" Target="notesMasters/notesMaster1.xml"/><Relationship Id="R38626e7e826441cf" Type="http://schemas.openxmlformats.org/officeDocument/2006/relationships/slide" Target="slides/slide3.xml"/><Relationship Id="R3b940b3920e64218" Type="http://schemas.openxmlformats.org/officeDocument/2006/relationships/slide" Target="slides/slide13.xml"/><Relationship Id="R6061f2ad5814420f" Type="http://schemas.openxmlformats.org/officeDocument/2006/relationships/slide" Target="slides/slide6.xml"/><Relationship Id="R669c4cb966a647a6" Type="http://schemas.openxmlformats.org/officeDocument/2006/relationships/slide" Target="slides/slide12.xml"/><Relationship Id="R6af1f7cf2ee047b5" Type="http://schemas.openxmlformats.org/officeDocument/2006/relationships/slide" Target="slides/slide2.xml"/><Relationship Id="R7ed65a8d5bc54e8e" Type="http://schemas.openxmlformats.org/officeDocument/2006/relationships/slide" Target="slides/slide8.xml"/><Relationship Id="R8488d8392e3e4a92" Type="http://schemas.openxmlformats.org/officeDocument/2006/relationships/slide" Target="slides/slide5.xml"/><Relationship Id="R9103b5d022a04765" Type="http://schemas.openxmlformats.org/officeDocument/2006/relationships/slide" Target="slides/slide11.xml"/><Relationship Id="R957bac55b5ba49a0" Type="http://schemas.openxmlformats.org/officeDocument/2006/relationships/slide" Target="slides/slide10.xml"/><Relationship Id="Ra2c1f601d6f947e7" Type="http://schemas.openxmlformats.org/officeDocument/2006/relationships/slideMaster" Target="slideMasters/slideMaster1.xml"/><Relationship Id="Rb5ab53858e734787" Type="http://schemas.openxmlformats.org/officeDocument/2006/relationships/slide" Target="slides/slide9.xml"/><Relationship Id="Rc0dd13cee0f748a8" Type="http://schemas.openxmlformats.org/officeDocument/2006/relationships/slide" Target="slides/slide4.xml"/><Relationship Id="Rddf9a785f16a46d7" Type="http://schemas.openxmlformats.org/officeDocument/2006/relationships/presProps" Target="presProps.xml"/><Relationship Id="Re28ec0496d784a8c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f6c1fd5943194b01" Type="http://schemas.openxmlformats.org/officeDocument/2006/relationships/theme" Target="theme/theme2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a4e09da3b9694c63" Type="http://schemas.openxmlformats.org/officeDocument/2006/relationships/notesMaster" Target="../notesMasters/notesMaster1.xml"/><Relationship Id="Rbd0d941d8189432c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43933517c9384b68" Type="http://schemas.openxmlformats.org/officeDocument/2006/relationships/notesMaster" Target="../notesMasters/notesMaster1.xml"/><Relationship Id="R49299366c94c4a2b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0ec5523727b2474b" Type="http://schemas.openxmlformats.org/officeDocument/2006/relationships/slide" Target="../slides/slide3.xml"/><Relationship Id="Rcf85c89bac7842b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9dd2b711bb4c475a" Type="http://schemas.openxmlformats.org/officeDocument/2006/relationships/slide" Target="../slides/slide4.xml"/><Relationship Id="Raa2b8c4201f7431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74d18cf011534c25" Type="http://schemas.openxmlformats.org/officeDocument/2006/relationships/slide" Target="../slides/slide5.xml"/><Relationship Id="Ra40409fc4db9457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3485500d7d7542d4" Type="http://schemas.openxmlformats.org/officeDocument/2006/relationships/slide" Target="../slides/slide6.xml"/><Relationship Id="R81ad42e26c424b99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753b70e3edf34f90" Type="http://schemas.openxmlformats.org/officeDocument/2006/relationships/slide" Target="../slides/slide7.xml"/><Relationship Id="Ref95932689054420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13650a6fed7c4cdb" Type="http://schemas.openxmlformats.org/officeDocument/2006/relationships/notesMaster" Target="../notesMasters/notesMaster1.xml"/><Relationship Id="R901e9b3d148548de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472616b144384f6f" Type="http://schemas.openxmlformats.org/officeDocument/2006/relationships/slide" Target="../slides/slide9.xml"/><Relationship Id="Rf1a358e6824846e3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0662390073ae424e" Type="http://schemas.openxmlformats.org/officeDocument/2006/relationships/slide" Target="../slides/slide10.xml"/><Relationship Id="R58d78479fddd45a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999b5e0b3f0a4d68" Type="http://schemas.openxmlformats.org/officeDocument/2006/relationships/slide" Target="../slides/slide11.xml"/><Relationship Id="Rafa6f252bd69432f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33de19163ba84688" Type="http://schemas.openxmlformats.org/officeDocument/2006/relationships/slide" Target="../slides/slide12.xml"/><Relationship Id="Rb757534f7e114dcd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8b50ebb1997e41ad" Type="http://schemas.openxmlformats.org/officeDocument/2006/relationships/slide" Target="../slides/slide13.xml"/><Relationship Id="R97d34e67bf0e4baa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<?xml version='1.0' encoding='UTF-8' standalone='yes'?>
<Relationships xmlns="http://schemas.openxmlformats.org/package/2006/relationships"><Relationship Id="R367309f2845145e8" Type="http://schemas.openxmlformats.org/officeDocument/2006/relationships/slideMaster" Target="../slideMasters/slideMaster1.xml"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56b1556f6e884139" Type="http://schemas.openxmlformats.org/officeDocument/2006/relationships/slideLayout" Target="../slideLayouts/slideLayout2.xml"/><Relationship Id="R8d4399e8e1c14a7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6b1556f6e8841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16d79602126a41ec" Type="http://schemas.openxmlformats.org/officeDocument/2006/relationships/image" Target="../media/image.png"/><Relationship Id="R357439ba5e344279" Type="http://schemas.openxmlformats.org/officeDocument/2006/relationships/slideLayout" Target="../slideLayouts/slideLayout2.xml"/><Relationship Id="R8fbdce4dcd9f4ff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2b5532cb90e942f1" Type="http://schemas.openxmlformats.org/officeDocument/2006/relationships/notesSlide" Target="../notesSlides/notesSlide2.xml"/><Relationship Id="Ra203137629d1468a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a6223d56d17f47c5" Type="http://schemas.openxmlformats.org/officeDocument/2006/relationships/notesSlide" Target="../notesSlides/notesSlide3.xml"/><Relationship Id="Ra9d59c632c8e4116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05050b87d2ff4b39" Type="http://schemas.openxmlformats.org/officeDocument/2006/relationships/notesSlide" Target="../notesSlides/notesSlide4.xml"/><Relationship Id="Rb4b662e941114c4e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35ca1461bee646d5" Type="http://schemas.openxmlformats.org/officeDocument/2006/relationships/notesSlide" Target="../notesSlides/notesSlide5.xml"/><Relationship Id="R7b4a2af8334d4146" Type="http://schemas.openxmlformats.org/officeDocument/2006/relationships/slideLayout" Target="../slideLayouts/slideLayout2.xml"/><Relationship Id="Rbf88ad9fa47e4617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5048a9dc3efb49ac" Type="http://schemas.openxmlformats.org/officeDocument/2006/relationships/notesSlide" Target="../notesSlides/notesSlide6.xml"/><Relationship Id="Re9ac840b8de04464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3ef6b539d2b24da1" Type="http://schemas.openxmlformats.org/officeDocument/2006/relationships/slideLayout" Target="../slideLayouts/slideLayout2.xml"/><Relationship Id="Rbd364b8cdfa54b8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2ee7fe7340924b3b" Type="http://schemas.openxmlformats.org/officeDocument/2006/relationships/notesSlide" Target="../notesSlides/notesSlide8.xml"/><Relationship Id="Rf7b121b5fee1495e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28ea0ff4c8dc424a" Type="http://schemas.openxmlformats.org/officeDocument/2006/relationships/notesSlide" Target="../notesSlides/notesSlide9.xml"/><Relationship Id="Rca743736c4aa4c72" Type="http://schemas.openxmlformats.org/officeDocument/2006/relationships/image" Target="../media/image3.png"/><Relationship Id="Rfb1a75e493b0431a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745b0e26346a41b0" Type="http://schemas.openxmlformats.org/officeDocument/2006/relationships/image" Target="../media/image5.png"/><Relationship Id="Rb1366a4e18d046c2" Type="http://schemas.openxmlformats.org/officeDocument/2006/relationships/notesSlide" Target="../notesSlides/notesSlide10.xml"/><Relationship Id="Re40f3c952ac04569" Type="http://schemas.openxmlformats.org/officeDocument/2006/relationships/slideLayout" Target="../slideLayouts/slideLayout2.xml"/><Relationship Id="Ref83be5170e94486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3f88dd51c1c14fdb" Type="http://schemas.openxmlformats.org/officeDocument/2006/relationships/notesSlide" Target="../notesSlides/notesSlide11.xml"/><Relationship Id="R829a49bf64d7468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48f8e09769cd4f0d" Type="http://schemas.openxmlformats.org/officeDocument/2006/relationships/slideLayout" Target="../slideLayouts/slideLayout2.xml"/><Relationship Id="Rbcec48418f0749c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a6cf20d18de04f48" Type="http://schemas.openxmlformats.org/officeDocument/2006/relationships/notesSlide" Target="../notesSlides/notesSlide13.xml"/><Relationship Id="Rbbc090297e1046ce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DB4ADC-EE1C-42A5-BF98-515F414A8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630650-985B-4849-B96B-CE35492F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8B1FF8-1F6D-434D-9E25-D92F0989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Schlusspräsentation · UiPath Lösung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B5E8EE-3747-4206-AC71-3344337E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D63360-0241-4A7E-9EE0-B5DD5E24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"/>
            <a:ext cx="7810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Moodle-to-LLM Study Planner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3568DD-3F22-4A20-9A7C-3B878518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7429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RPA-Prozess zur automatisierten Auswertung von Moodle-Unterlagen und Erstellung eines Lernplans.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d79602126a41ec"/>
          <a:stretch xmlns:a="http://schemas.openxmlformats.org/drawingml/2006/main"/>
        </p:blipFill>
        <p:spPr>
          <a:xfrm xmlns:a="http://schemas.openxmlformats.org/drawingml/2006/main">
            <a:off x="6762750" y="1431727"/>
            <a:ext cx="4714875" cy="2946797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DE4DC7-F78E-493F-B3D1-3B1C4FAD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0"/>
            <a:ext cx="23050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CF65E8-3519-4997-8382-831F16637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67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B000F3-CD85-4CA7-9197-BE58A615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885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Referenzschritte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ECD7E9-FCE9-4920-B5DE-21E3D9781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48200"/>
            <a:ext cx="1885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manueller Prozess dokumentiert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1BAAB5-9BE6-4E7B-A5C0-AEE2D4689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714750"/>
            <a:ext cx="23050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547B6E-D3D0-4E6D-BDFB-9EA6D4ABE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867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59669"/>
                </a:solidFill>
                <a:latin typeface="Aptos"/>
                <a:ea typeface="Aptos"/>
                <a:cs typeface="Aptos"/>
              </a:rPr>
              <a:t>35h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FC0976-8847-438F-ABB7-4A023913A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352925"/>
            <a:ext cx="1885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Potenzial / Semester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7C9F8F-A73E-4484-9ABF-78292B41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648200"/>
            <a:ext cx="1885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10 Fälle × 15 min × 14 Wochen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E92760-191B-40C3-86D1-F1326C7D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14750"/>
            <a:ext cx="23050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7340B2-E20C-45D8-AF77-777A541F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867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1DADDD-6EEF-433D-B682-E1370AC6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352925"/>
            <a:ext cx="1885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Moodle-Quellen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75B5A6-92D2-4DBC-AF2D-8B7DED73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648200"/>
            <a:ext cx="1885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im Ergebnis nachgewiesen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A2D96A-7746-4A99-8533-F0152A37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15000"/>
            <a:ext cx="7239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Oliver Schütz · BSc Computational and Data Science · CDS309</a:t>
            </a:r>
          </a:p>
        </p:txBody>
      </p:sp>
    </p:spTree>
    <p:extLst>
      <p:ext uri="{BB962C8B-B14F-4D97-AF65-F5344CB8AC3E}">
        <p14:creationId xmlns:p14="http://schemas.microsoft.com/office/powerpoint/2010/main" val="43008197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5A0C92-6879-43C4-B69C-8A502E4B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F7D0CD-ACCE-4F8B-AD7C-C3BC47BB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A0D30F-9387-4416-BC8E-576C60FB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E52F3-2751-4086-BA26-58B9F4BD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9748B2-82E6-4D19-A8A7-D83B657F4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Was die Präsentation nachweisen muss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01384E-B0AE-48EC-8BE3-90EF774E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Struktur direkt entlang der Bewertungskriterien der Schlusspräsentation.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A3A92D-4055-4194-8723-A526E04E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62125"/>
            <a:ext cx="10239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50B4D4-1651-4372-B671-8ED8D552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62125"/>
            <a:ext cx="66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1E3F7E-F1BF-42BC-B631-9FC50F30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914525"/>
            <a:ext cx="989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Prozessbeschreibung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0CBB57-7AFF-43E8-8D0A-D8C19A8E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57425"/>
            <a:ext cx="9877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BPMN-/Flowchart-Logik und 26 dokumentierte Referenzschritte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DFD3A-BA4B-48CF-A949-5E6D73B97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43175"/>
            <a:ext cx="10239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E736A5-E41F-4C4E-A099-0413BE506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43175"/>
            <a:ext cx="66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F82426-A718-4209-8AD6-DD9AB57B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95575"/>
            <a:ext cx="989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Automatisierungsschritte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29F1F6-214D-4C8E-A04F-5A0BAC6FA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38475"/>
            <a:ext cx="9877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konkrete UiPath-, API-, LLM- und Render-Schritte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ED9D46-FA53-42B8-8C45-213E9E98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24225"/>
            <a:ext cx="10239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A6585D-BB1C-465E-98FE-8D7ECFF4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24225"/>
            <a:ext cx="66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A1D63F-8F86-4149-9995-444821A5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76625"/>
            <a:ext cx="989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Herausforderungen &amp; Chancen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F77CE9-1226-44B7-A9C1-75670A1C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19525"/>
            <a:ext cx="9877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reflektiert, fachlich sinnvoll und mit Verbesserungsansätzen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26C6AD-31EA-4635-9394-BCBFD632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05275"/>
            <a:ext cx="10239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1B27DD-B170-4248-ABD9-C8437DEF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05275"/>
            <a:ext cx="66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6E6BB2-1EEA-45E7-BAF2-5A04D9DE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57675"/>
            <a:ext cx="989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Fehlerfreier Durchlauf / Video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57E806-4834-4616-9797-56D5362C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00575"/>
            <a:ext cx="9877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Nachweis über Real-Run-Video, Output-Screenshot und Quellen-JSON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D4805C-3C5A-4AA8-B0BD-4AD7F618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86325"/>
            <a:ext cx="10239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0C0845-4A6C-482E-B943-E358D9F4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86325"/>
            <a:ext cx="66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C21FBF-5CF2-4428-8E5D-B3891B746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38725"/>
            <a:ext cx="989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Formaler Auftritt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9D2FFE-7078-436E-89E4-AAF76B75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81625"/>
            <a:ext cx="9877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klare Story, visuelle Nachweise, saubere Quellenlage</a:t>
            </a:r>
          </a:p>
        </p:txBody>
      </p:sp>
    </p:spTree>
    <p:extLst>
      <p:ext uri="{BB962C8B-B14F-4D97-AF65-F5344CB8AC3E}">
        <p14:creationId xmlns:p14="http://schemas.microsoft.com/office/powerpoint/2010/main" val="4753729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2EF616-2157-4DA9-9785-CEDB03E7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3340E4-7E8D-4A84-9390-9E074945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A10326-3F67-4C42-AE3D-D7B36BB9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6292C1-0053-4AD4-A3B8-AD2EC46B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AF703C-AC0B-4CA9-9347-2EC7C10F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Der Prozess ist ein guter RPA-Kandidat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28FC85-411E-4057-9555-F67D79A5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Digitale Daten, wiederkehrender Ablauf und klar begrenzte menschliche Prüfpunkte.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8E31DE-FD1C-47BF-9135-0B663FC1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22383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8B9C1E-F7B3-4069-BE79-0C3E933DD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2150"/>
            <a:ext cx="18192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5/5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B7FA90-A426-42FA-95A2-6C9145AF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47925"/>
            <a:ext cx="18192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digitaler Input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18C59D-66D9-435D-B8D4-F24526143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18192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Moodle-Dateien, JSON, HTML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5D2567-C796-4989-B41E-96328C29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809750"/>
            <a:ext cx="22383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F116A5-02A8-473F-B539-1AA44D49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962150"/>
            <a:ext cx="18192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4/5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22C3A0-2D7D-4D28-A8DB-71D4B484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47925"/>
            <a:ext cx="18192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regelbasiert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742255-7587-4F92-B9F6-4697AF0B9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743200"/>
            <a:ext cx="18192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Abruf, Filter, Rendern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0A70B2-5BB8-41CB-9336-E238F8A0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809750"/>
            <a:ext cx="22383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4F8445-E911-411C-8BC8-27F5820C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962150"/>
            <a:ext cx="18192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59669"/>
                </a:solidFill>
                <a:latin typeface="Aptos"/>
                <a:ea typeface="Aptos"/>
                <a:cs typeface="Aptos"/>
              </a:rPr>
              <a:t>4/5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DB01F6-5202-4C02-A076-E738BB0B7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447925"/>
            <a:ext cx="18192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Wiederholung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EDDF6F-3C5A-4864-B9EE-13D508971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743200"/>
            <a:ext cx="18192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wöchentlich / pro Kurs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9F8B43-A08B-4CE3-9C82-4A1D8385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09750"/>
            <a:ext cx="22383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2D45FC-0EB1-4AA1-A09F-1BF5B601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962150"/>
            <a:ext cx="18192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EA580C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EA580C"/>
                </a:solidFill>
                <a:latin typeface="Aptos"/>
                <a:ea typeface="Aptos"/>
                <a:cs typeface="Aptos"/>
              </a:rPr>
              <a:t>3/5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D0D090-F9D9-4F1B-91F8-C141CC16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47925"/>
            <a:ext cx="18192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Ausnahmen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CF3F46-3F78-4D9D-9627-54ADF360B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43200"/>
            <a:ext cx="18192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LLM-Qualität braucht Prüfung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0C07C6-4BC2-49F2-A7B7-CED7E940E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95700"/>
            <a:ext cx="485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Eignungsbegründung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AEA88E-0D61-47B6-8423-F7F0B6EC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67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A54C3D-6151-4B42-AEBD-AF8E02ABB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91000"/>
            <a:ext cx="4724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Input liegt digital und strukturiert über Moodle/API vor.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B49049-59CD-40E7-B1CF-CFF26A22A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86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153A5B-50BB-43CD-824B-CAEDA0CA4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10100"/>
            <a:ext cx="4724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Wiederholte Informationssuche kostet Zeit und erzeugt Copy/Paste-Fehler.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086FA2-0DB4-4F02-B96A-A55A1077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054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5F058F-A3C5-4B81-8794-DE1C41EF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29200"/>
            <a:ext cx="4724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Der Bot automatisiert technische Arbeit, die fachliche Freigabe bleibt sichtbar.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07808F-BD87-4BDC-80A3-2F0BD772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24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3B56025-75B6-4BBB-816C-AFCB25E0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448300"/>
            <a:ext cx="4724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Teilautomatisierung ist sinnvoll, weil LLM-Ergebnisse validiert werden müssen.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A98D82-306B-466C-8DC9-B8F759300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90950"/>
            <a:ext cx="40957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FE1425-3773-4CFE-B40B-45AB86B56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90950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EB849DC-F5B0-47B2-8D00-175E5C063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943350"/>
            <a:ext cx="3752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Abgrenzung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6712ED5-BAAE-4EEE-A131-B05D67E4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86250"/>
            <a:ext cx="37338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Der Zielprozess ersetzt kein Lernen und keine fachliche Bewertung. Er sammelt Moodle-Inhalte, strukturiert sie und erzeugt einen prüfbaren Lernplan.</a:t>
            </a:r>
          </a:p>
        </p:txBody>
      </p:sp>
    </p:spTree>
    <p:extLst>
      <p:ext uri="{BB962C8B-B14F-4D97-AF65-F5344CB8AC3E}">
        <p14:creationId xmlns:p14="http://schemas.microsoft.com/office/powerpoint/2010/main" val="8298740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060EA1-1167-4D39-A877-1C274ECEA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265E40-F5CE-4E3B-812E-EE77E4B2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3EB0F5-8915-4A88-9113-F89F7DC8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2A4BCF-0B24-4E8D-9AA4-81723553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F49E63-F1B3-4F1D-A58C-F79383FC0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Der Referenzprozess hat 26 sichtbare Schritte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DCC60B-352A-48BC-90AE-5F39E2299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Die manuelle Variante dient als Aufnahme- und Vergleichsprozess für die Automatisierung.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29706F-CD72-4003-8E25-F08BC4E2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630725-8C54-4007-90ED-A290D54A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57375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Initialisierung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94F3C8-35CC-4CE1-B939-1DFBC592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69545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9B6141-C98F-41EE-A8FD-40E44B2D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838325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Start, Docker/CLI prüfen, Terminal und Browser öffnen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278664-8D0A-470E-ADC6-B671E415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1838325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0891B2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0C3531-B0B1-4109-B961-EB6377AE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90E1D2-CE53-4217-989E-0B134392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6700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Moodle-Daten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D9D661-29E2-4C61-A80C-0671447CF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505075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2F8BF9-A2D9-452C-A711-972D60E5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64795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Kurse lesen, Ressourcen anzeigen, relevante Datei auswählen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5B472E-324F-4765-9062-1CCFE43E6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647950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93767C-679D-40D0-8CF2-88611940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80308A-7900-46DF-98C7-8C611B07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76625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LLM-Schritt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DEFC8A-1C36-4410-B3CA-9529F416B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3147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1E5770-E1C5-42F7-B40D-421B9E8A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57575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Inhalt kopieren, Prompt ergänzen, Antwort erzeugen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913B6-52D3-4E50-9222-9207B47A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457575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4F46E5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A1A232-F20D-4017-B506-B07A1578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24325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9525">
            <a:solidFill>
              <a:srgbClr val="EA580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E59706-F290-41FE-926D-08AF1B8FD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8625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Validierung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47249D-20C1-467E-B675-3D68E867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124325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4904DD-F1A3-4554-AAF5-AF354234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26720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Ergebnis prüfen, bei Bedarf Prompt verbessern und erneut ausführen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48404F-D587-4C08-B1D7-7FDAF005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267200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EA580C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EA580C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29D607-B078-4806-8CAE-FECEA8AC8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339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008D2B-92E1-4DF7-B508-B823A8E4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95875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Abschluss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82475F-9B1C-42C1-AE25-23AA0EAA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93395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CAA01F-BD33-4519-BA75-D6429AE2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076825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Lernplan übernehmen, speichern und für weitere Kurse wiederholen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D7D5F0-0C28-4509-94BC-6C5E0100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34075"/>
            <a:ext cx="933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Dokumentiert in PROZESS_MANUELLER_ABLAUF.md und PROZESS_AUFZEICHNUNG.md.</a:t>
            </a:r>
          </a:p>
        </p:txBody>
      </p:sp>
    </p:spTree>
    <p:extLst>
      <p:ext uri="{BB962C8B-B14F-4D97-AF65-F5344CB8AC3E}">
        <p14:creationId xmlns:p14="http://schemas.microsoft.com/office/powerpoint/2010/main" val="185717778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1010AD-F8B9-4FE4-80CA-CF6CD0F0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D9DAEA-15FE-4E7B-BABE-F36F8E32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150DE3-4C02-41A4-AE9A-4230B42A5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83DC22-ECBB-4B7A-B584-12C99C5F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200398-34ED-40E7-9E42-75A82A5F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Zielarchitektur: UiPath orchestriert APIs statt Browser-Scraping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4C6257-E3E4-4A2E-8990-D7D75812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Der Bot nutzt stabile Schnittstellen und lokale Artefakte; Secrets bleiben außerhalb von Git und Screenshots.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88ad9fa47e4617"/>
          <a:stretch xmlns:a="http://schemas.openxmlformats.org/drawingml/2006/main"/>
        </p:blipFill>
        <p:spPr>
          <a:xfrm xmlns:a="http://schemas.openxmlformats.org/drawingml/2006/main">
            <a:off x="2771775" y="1666875"/>
            <a:ext cx="6553200" cy="4095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546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2749E0-F313-4A4B-9B65-27726AD5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414821-35FB-4F2F-B7E7-5B2E3E02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4DF5F1-85F2-4119-873D-F2F44366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995CFC-DA41-45FC-A82B-8B10B9AF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05722D-75F6-4D39-83D6-A3EE7AD89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BPMN-nahe Prozesslogik mit Validierungsschleife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5075AC-A646-42CC-A92E-FCA64244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Die Schleife hält den LLM-Schritt kontrollierbar: nur valide Ergebnisse werden gespeichert oder versendet.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64462C-CA39-4075-9360-57BD9EAB3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0F7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941974-11CA-4F56-9638-C1AEBB79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9072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Start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EA0470-7089-43C1-8869-CAA9E238F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80975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2563E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6DE9D7-65C3-4F77-BF54-3F33A815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99072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Kursliste abrufen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C80E0D-3BA3-412B-9A02-267FC9552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2563E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7BA697-0C67-44DB-B308-2BD18D69E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99072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Ressourcen lesen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01D066-4C93-40BE-9E8C-FA0B5B44F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0975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4F46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CD1836-AFD2-433C-8857-B3F090D1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99072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LLM anfragen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729A2D-E996-4425-8F52-3BFE3A55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80975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EA580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0612B3-499E-4230-92EA-C8F8A0EC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9072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Antwort prüfen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45F82E-03AC-47B0-939F-C37B6457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42900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EA580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B8AE33-87CA-4426-9FF9-F3A63C9A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60997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Retry &lt; 3?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C33BF0-71B0-4507-B10F-F1FF98EA3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42900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05966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EB8586-2AE1-4AE6-8F50-FD686AB4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60997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Lernplan rendern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A1DE3C-CB11-427C-B6DE-43AFDDD9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05966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4EAACE-BDA6-4A2C-B153-090C7A79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60997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E-Mail optional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5C5267-0E6F-47EB-AD87-E33992F4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42900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0F7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C4859E-57A5-4A68-875F-6A64F89C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60997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Nächster Kurs?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F6F1A8-6500-4FFC-9A6F-4D55920D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0F17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1288D1-2F57-4911-8845-676432946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0997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Ende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D4E08D-09C8-438C-BDF4-46744B16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895475"/>
            <a:ext cx="647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061248-9A38-4CCB-835C-6EF23A54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895475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86AE15-E05D-43AF-9B45-A43F5EB6C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95475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7A034A-E0C2-48A3-B5BA-C2663824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95475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DD17A1-5BDC-4AE1-BF3D-7E1BC4B05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314575"/>
            <a:ext cx="3810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FDF91E-C314-42B6-A41A-99FD622C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09975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84D5ED-4A76-4F03-A04C-FFFB5721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09975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B2A0EA-D1E5-43C8-89D4-6082C310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609975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49C83A-5D93-4852-9B48-A0C1D75B7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609975"/>
            <a:ext cx="647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176A7CB-145B-4B92-8E33-3F8BA2E3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3676650"/>
            <a:ext cx="81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nein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CF0A45-C52D-4C8B-9EF8-330C310C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05150"/>
            <a:ext cx="685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59669"/>
                </a:solidFill>
                <a:latin typeface="Aptos"/>
                <a:ea typeface="Aptos"/>
                <a:cs typeface="Aptos"/>
              </a:rPr>
              <a:t>valide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524AF0F-C376-42D8-821E-A2CD7C485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1009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Exception: Nach drei ungültigen LLM-Antworten wird kein Ergebnis erzwungen; der Fall wird sichtbar als Fehler markiert.</a:t>
            </a:r>
          </a:p>
        </p:txBody>
      </p:sp>
    </p:spTree>
    <p:extLst>
      <p:ext uri="{BB962C8B-B14F-4D97-AF65-F5344CB8AC3E}">
        <p14:creationId xmlns:p14="http://schemas.microsoft.com/office/powerpoint/2010/main" val="165260524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CCCD1C-9F95-45CD-A9C7-F2E4048C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5F658B-D9FD-44E3-9831-843FA6382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616C46-A678-4744-BBE2-F1C4B9D1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8DAFF4-2A6F-495A-8BD8-244A1AB0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286FDD-064B-4C23-81D0-FF8D3ED94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Konkrete Automatisierungsschritte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5D99F8-E3B4-42EC-B988-88D524F0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Die Umsetzung bleibt spezifisch: jeder Schritt hat eine technische Aufgabe und ein prüfbares Ergebnis.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323322-F069-453F-A2A9-DCF42437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4955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D0C8E1-AEED-4A5F-91AB-5E2026EA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4955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3C3C01-326D-4A79-8D35-FBA46FE4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57400"/>
            <a:ext cx="2152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 · Vorbereitung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2B80F1-972B-4D45-98DE-B1D0BDFD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95918E-661E-4DC1-BC30-0FFCCACE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336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.env laden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1E991D-3776-4753-8A1E-F90255B13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FC7DAE-02E5-43DA-ADF6-0EDDB2E5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956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Semester/Kursfilter setzen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BFB016-3E8C-4DDB-BB5F-A6BFF3DE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75CA49-B22B-421F-96AF-E2741688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575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Output-Ordner pro Lauf anlegen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D89BF6-49CA-43ED-A23D-65285D49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45475F-2616-403E-94D6-F06D740F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195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Moodle API erreichbar prüfen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39DB24-F328-401B-9EFA-7D0EB5CB5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09750"/>
            <a:ext cx="24955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4C9C7E-B4F3-4F51-8EDE-1D120805A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09750"/>
            <a:ext cx="24955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AC7A63-D486-4F38-B7D3-7BB88F43D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57400"/>
            <a:ext cx="2152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· Daten abrufen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97A74A-080D-4EC1-A816-8D69A687E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609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6EEA46-9022-4F8D-8184-B8B7137C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5336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Kurse lesen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3A065B-07E9-4C33-AA48-CEED9AC2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31E0D4-264D-46E7-B7A8-564EB189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8956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Ressourcen pro Kurs lesen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9CB776-191D-4A0F-B0E5-656683B50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0BD19F-1E99-4E60-8A70-5550D80C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575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relevante Dateien auswählen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9DC6AB-70A4-49EC-98EA-B7DC152DA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B8D766-5019-4DCD-991F-5DB102C0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6195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Inhalte und Metadaten normalisieren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86C26C-8CAB-4178-A197-E07BF879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4955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8B8F7A-797F-4BE5-A98E-5102FBA8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4955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60CDBC4-D3B6-485C-BA4F-2F79699F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57400"/>
            <a:ext cx="2152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3 · Generieren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9C8B15-E6ED-4572-88D9-F30995BC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09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F6785B-766A-4DC2-B715-D035A08F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336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Prompt aus Template bauen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3FBCE58-B657-4594-9EA0-A9F65888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56DDB17-2911-45CF-9CB6-37C0A21F3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8956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Gemini aufrufen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F69227F-E7CD-49DD-934A-D7C338DB1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7C7EE58-B9E4-422F-8A9F-F2F6094EC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2575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Antwort gegen Pflichtfelder prüfen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6D330D3-C941-49D0-9E34-AD4C7DEEE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175FC8-DEE1-4C08-97FC-9610EFFD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195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Retry bei unvollständigem Output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EE26864-EEFD-4A7F-B465-A8022E0E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09750"/>
            <a:ext cx="24955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3B495C-6402-4E61-913D-F1047DF3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09750"/>
            <a:ext cx="24955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1A98A19-8D86-460F-98D4-F2A3A53E5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57400"/>
            <a:ext cx="2152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4 · Abschluss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F55F63A-78CA-4847-A68E-DA4784F8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609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D7BA282-E438-4024-AE73-92604373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5336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Markdown speichern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89F1FB3-965B-4A5C-BDF1-892E0685C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6141869-3EBD-433A-9017-59E517C1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8956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HTML/PDF rendern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B0A6415-2081-4163-8923-D76872E88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9CF6D74-374B-45B8-9FA1-8C168945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2575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Sources JSON mitschreiben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26E065D-B198-4F4D-89E4-CA3DE351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8721BC6-6011-4D70-95B3-4C799B88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6195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E-Mail optional vorbereiten</a:t>
            </a:r>
          </a:p>
        </p:txBody>
      </p:sp>
    </p:spTree>
    <p:extLst>
      <p:ext uri="{BB962C8B-B14F-4D97-AF65-F5344CB8AC3E}">
        <p14:creationId xmlns:p14="http://schemas.microsoft.com/office/powerpoint/2010/main" val="111130249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5B6C7B-51E6-4055-9591-E7CB645DF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0C06B4-D85D-4561-B26C-D06703AF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1FA47C-D8F0-4E1C-BA6C-BFC3738C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57C139-C5C5-4178-86DF-FC04B0AFB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DA0469-9A23-4CEE-9AD0-9022D233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UiPath-Implementierung: klarer Orchestrierungsrahmen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DE9289-5BD6-4CDF-8442-CC830E960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UiPath übernimmt Start, Konfiguration, Skriptaufrufe, Dateiablage und optionalen Mailversand.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1FF04B-80CF-4CF5-93E6-709F41C62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4762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D0B1F0-982C-437F-AA60-D583A872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485288-C52B-44DF-9012-50C00269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62150"/>
            <a:ext cx="441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Main.xaml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0BF20A-4786-4AC3-9750-2152C3EC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440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Lädt .env oder RPA_ENV_PATH, setzt Moodle-URL, API-Keys, Empfänger, Mail-Flag und Semesterfilter.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35BEF7-6124-473C-8ACB-B61AC4876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4762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F6BB2C-7126-4B52-BF8C-3BAA813D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D0C8F-5740-48DF-9271-524902A6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62150"/>
            <a:ext cx="441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generate_lernplan_markdown.ps1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1CACBA-04E0-4997-8546-8521AA32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05050"/>
            <a:ext cx="440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Ruft Moodle Services API ab, bereitet Quellen auf und erzeugt den strukturierten Lernplanentwurf.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0AEDBD-C938-46BD-9AC5-FFA686752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4762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470606-A7AD-4746-A94D-D610B312B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B7F7F3-EE94-4E18-9A8F-800B4AC70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29000"/>
            <a:ext cx="441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render_lernplan_email.ps1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FB44EE-82C6-4ABD-BFFD-32378F18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71900"/>
            <a:ext cx="440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Rendert Markdown zu HTML/PDF und baut die Abschluss-Mail mit Anhängen oder Mailpit-Testziel.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24EC03-910B-42DF-8B70-AD6BEEF62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76600"/>
            <a:ext cx="4762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4D6323-F1DD-4029-9824-38390CF4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7660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6E36FB-3ADF-40A6-9BE2-E21C238D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29000"/>
            <a:ext cx="441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compose.yaml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652845-00B1-4074-9BDF-346F496EE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71900"/>
            <a:ext cx="440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Stellt Moodle API Container und Mailpit lokal bereit; Credentials werden aus .env injiziert.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0F98DB-6817-45B6-BDE5-57C6F1943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00625"/>
            <a:ext cx="1009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86EFA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4EB7E8-C922-410F-8CF1-EED97C8FB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72075"/>
            <a:ext cx="9601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Git-Schutz: .env ist ignoriert; .env.example dokumentiert nur die Variablennamen MOODLE_USERNAME und MOODLE_PASSWORD.</a:t>
            </a:r>
          </a:p>
        </p:txBody>
      </p:sp>
    </p:spTree>
    <p:extLst>
      <p:ext uri="{BB962C8B-B14F-4D97-AF65-F5344CB8AC3E}">
        <p14:creationId xmlns:p14="http://schemas.microsoft.com/office/powerpoint/2010/main" val="104956677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1027D0-3A51-4D40-A376-EF8AD3C2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1DAFF0-6C6A-4FF1-8199-39A825947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106014-D30E-4B79-8AE0-4B010C83A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9BD161-C9AE-425B-8037-A192C4A8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F54803-837C-42F2-9EFE-55914FEE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b="1" sz="3000">
                <a:latin typeface="Aptos Display"/>
              </a:rPr>
              <a:t>Durchlaufnachweis: UiPath-Run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83D252-7B64-445A-803D-5D781B70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/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743736c4aa4c72"/>
          <a:stretch xmlns:a="http://schemas.openxmlformats.org/drawingml/2006/main"/>
        </p:blipFill>
        <p:spPr>
          <a:xfrm xmlns:a="http://schemas.openxmlformats.org/drawingml/2006/main">
            <a:off x="742950" y="1638300"/>
            <a:ext cx="6858000" cy="4286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44772F-9630-4DDE-8CE7-A82818CD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0025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86EFA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94A7DE-B62C-4F59-91EA-DAF234FE6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526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59669"/>
                </a:solidFill>
                <a:latin typeface="Aptos"/>
                <a:ea typeface="Aptos"/>
                <a:cs typeface="Aptos"/>
              </a:rPr>
              <a:t>Ergebnis vorhanden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AB5A94-2AE4-43BF-A336-1CDFD9E9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66975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HTML + Quellen-JSON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653D77-79B4-4A74-A4DC-A072C517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0515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18C14F-B878-4F6B-BEDB-D451A2022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575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Secrets geschützt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079B22-4378-401D-9B90-8FD7AB5A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71875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.env bleibt lokal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8F8AFB-F556-44A7-8FF2-121EB2EF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0050"/>
            <a:ext cx="2857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D6C3BA-8F69-4FB8-9F37-5EFB26E1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3624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Video vorhanden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613773-BC94-446B-B0AB-D913CC64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676775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Real-Run-Video im Repo; Exit Code 0.</a:t>
            </a:r>
          </a:p>
        </p:txBody>
      </p:sp>
    </p:spTree>
    <p:extLst>
      <p:ext uri="{BB962C8B-B14F-4D97-AF65-F5344CB8AC3E}">
        <p14:creationId xmlns:p14="http://schemas.microsoft.com/office/powerpoint/2010/main" val="93405813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327093-2EC2-47F7-997E-C27989905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ED9D0D-48ED-46C0-9169-E70E52E3F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7BD99C-FA25-484C-92D3-DE1FBBCF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305F26-077E-49B4-96E2-191EA1207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F634DB-2191-4FB1-A47F-020C04BC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Screenshots: Output und Quellen sind nachvollziehbar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45298F-72D0-48E9-949F-EA05F237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Der Lernplan ist nicht frei erfunden: neben dem HTML wird ein Sources JSON abgelegt.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83be5170e94486"/>
          <a:stretch xmlns:a="http://schemas.openxmlformats.org/drawingml/2006/main"/>
        </p:blipFill>
        <p:spPr>
          <a:xfrm xmlns:a="http://schemas.openxmlformats.org/drawingml/2006/main">
            <a:off x="1385888" y="1676400"/>
            <a:ext cx="3514725" cy="3905250"/>
          </a:xfrm>
          <a:prstGeom xmlns:a="http://schemas.openxmlformats.org/drawingml/2006/main" prst="rect">
            <a:avLst/>
          </a:prstGeom>
        </p:spPr>
      </p:pic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5b0e26346a41b0"/>
          <a:stretch xmlns:a="http://schemas.openxmlformats.org/drawingml/2006/main"/>
        </p:blipFill>
        <p:spPr>
          <a:xfrm xmlns:a="http://schemas.openxmlformats.org/drawingml/2006/main">
            <a:off x="6115050" y="2081213"/>
            <a:ext cx="4953000" cy="309562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003FD6-5FCA-4384-AF9D-D2022789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34050"/>
            <a:ext cx="447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Generierter HTML-Lernplan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1C230A-C173-43E3-93F6-22E315038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734050"/>
            <a:ext cx="447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Quellenliste aus Moodle-Dateien</a:t>
            </a:r>
          </a:p>
        </p:txBody>
      </p:sp>
    </p:spTree>
    <p:extLst>
      <p:ext uri="{BB962C8B-B14F-4D97-AF65-F5344CB8AC3E}">
        <p14:creationId xmlns:p14="http://schemas.microsoft.com/office/powerpoint/2010/main" val="26166350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749AA9-AF4C-4765-8695-BC267B5E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3B09CF-B62E-4C83-B55D-B77E331B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C97356-0535-4BAE-B5B3-AF269621F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AB448C-6158-4844-A24E-7F076FCB8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78049E-5B6B-4BFA-BF52-4D9CBE372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Business Case: kleiner Prozess, klarer Lerneffekt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C1ECE7-33A2-4E04-A3C8-2254405ED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Die Rechnung ist bewusst konservativ und auf den Studienkontext bezogen.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E88168-477A-4B95-BF1B-8D24F9B21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AA8585-6390-4A54-8D82-32A10C27B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76450"/>
            <a:ext cx="196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2A539E-C2A2-4FF3-A135-CF480AB76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62225"/>
            <a:ext cx="1962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Fälle / Woche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6C0357-D649-46A3-B1F7-DB41D5F88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57500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Kurse oder Aktualisierungen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E6016E-E440-48AD-900A-6C60AB72C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24050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5C2809-A659-4B07-824D-6FC79889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076450"/>
            <a:ext cx="196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EA580C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EA580C"/>
                </a:solidFill>
                <a:latin typeface="Aptos"/>
                <a:ea typeface="Aptos"/>
                <a:cs typeface="Aptos"/>
              </a:rPr>
              <a:t>15 min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BA833C-FA14-4B75-859D-9D7FE02B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562225"/>
            <a:ext cx="1962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manuell / Fall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149592-03A6-44C1-8D2C-1D835C9BF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57500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Suchen, Kopieren, Prompten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B7CAA4-6CF9-4FB7-A66D-6F3CD3D53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924050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2BCBB7-7121-4C05-A011-7FC1006A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76450"/>
            <a:ext cx="196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1FE734-62F2-493E-A2BE-B96E1245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62225"/>
            <a:ext cx="1962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Wochen / Semester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7A9F12-AD3C-4C88-8C0D-BDE489C51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57500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FS26 als Betrachtungshorizont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656D5D-988C-4FCC-BEC5-7B050B63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924050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6B002E-9589-43E6-A88E-6D0CC0D8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76450"/>
            <a:ext cx="196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59669"/>
                </a:solidFill>
                <a:latin typeface="Aptos"/>
                <a:ea typeface="Aptos"/>
                <a:cs typeface="Aptos"/>
              </a:rPr>
              <a:t>35h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67C4EB-C435-47E9-A235-37F9A290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62225"/>
            <a:ext cx="1962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Bruttopotenzial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73ABF7-C233-4D83-88AF-C2FF91AB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57500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10 × 15 min × 14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F44756-1B90-496E-AAD9-0B034A9E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0"/>
            <a:ext cx="9639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4E7741-3F90-4D5D-AC09-CDD0FA57F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14825"/>
            <a:ext cx="8991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Der wichtigste Nutzen ist nicht nur Zeitersparnis: bessere Nachvollziehbarkeit, weniger Copy/Paste-Fehler und ein wiederholbarer Ablauf für mehrere Kurse.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B06AB8-078E-4E00-BE13-A450B723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ROI-Einschränkung: Für einen einzelnen Studentenprozess ist der monetäre ROI begrenzt; als wiederverwendbarer Organisationsprozess steigt der Nutzen deutlich.</a:t>
            </a:r>
          </a:p>
        </p:txBody>
      </p:sp>
    </p:spTree>
    <p:extLst>
      <p:ext uri="{BB962C8B-B14F-4D97-AF65-F5344CB8AC3E}">
        <p14:creationId xmlns:p14="http://schemas.microsoft.com/office/powerpoint/2010/main" val="128037143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146FDB-7F11-4CAD-BB68-27D0F3B74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D1A98D-9ADD-4FEE-AAD2-8B6780718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58CC05-B6AB-466B-8C68-39E2F425F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E35478-4E50-44D5-97AD-C6CC6A65C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8D760D-8982-4058-8720-A96575E9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Herausforderungen und Chancen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3B5709-1690-4067-A01D-57338B13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Die Lösung ist bewusst hybrid: RPA für Ablaufstabilität, AI für Strukturierung, Mensch für fachliche Kontrolle.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62F64B-BC84-4F88-A4BB-7D085563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4572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9CACB1-DF70-414A-9A61-803A34CE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666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5D2E30-FAA4-4789-BF14-7A91C8C5A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422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Authentifizierung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F31DDA-B4B9-4696-880E-F570E2F8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05050"/>
            <a:ext cx="421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Moodle-Login und Container-Credentials müssen lokal, sicher und reproduzierbar bleiben.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EF3A1E-1201-4A0C-A339-D3E66127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4572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12A5EF-2B2B-45F7-B3FF-9883A256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666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D13595-BF81-40D1-83AE-FCB47AF21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62150"/>
            <a:ext cx="422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LLM-Qualität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1FE059-1F6A-4440-8F87-3F29E39DA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05050"/>
            <a:ext cx="421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Antworten brauchen Pflichtfelder, Quellenbezug und Retry-Logik statt blindem Vertrauen.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F1601D-8606-4E0F-BACF-21BC973B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4572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AD0E9A-A102-4ACB-877C-1D30142B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666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DEDC6E-0B15-40A5-A432-36344E16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95650"/>
            <a:ext cx="422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Windows-Abhängigkeit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3372B8-A9CC-457D-8ABF-6AE783C5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38550"/>
            <a:ext cx="421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UiPath Studio läuft auf Windows; Docker Desktop muss für den lokalen API-Stack stabil starten.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AD4D51-F351-49E4-8F72-03D289E5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143250"/>
            <a:ext cx="4572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E6A54D-5482-46CF-8D1C-CBB4AB15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143250"/>
            <a:ext cx="666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4EEAE7-4508-4767-AE38-78642A1F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95650"/>
            <a:ext cx="422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Nachweisführung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4C1EA6-9C28-4CE0-B0A2-84E1A86E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38550"/>
            <a:ext cx="421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Screenshots, Quellen-JSON und Video müssen Secrets verbergen und trotzdem den Ablauf belegen.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FDF11E-A2C8-4A07-9697-D293BF7A9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9886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660815-8FA3-44AB-B285-A8CC215C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666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CD3B7B-57F2-4D27-B28B-4335FCC8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14900"/>
            <a:ext cx="954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Chance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59D9DF-69F7-4978-B817-3180DC97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57800"/>
            <a:ext cx="9525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Die Architektur kann später auf mehrere Kurse, weitere Datenquellen und einen kontrollierten Mail-/Kalender-Output erweitert werden.</a:t>
            </a:r>
          </a:p>
        </p:txBody>
      </p:sp>
    </p:spTree>
    <p:extLst>
      <p:ext uri="{BB962C8B-B14F-4D97-AF65-F5344CB8AC3E}">
        <p14:creationId xmlns:p14="http://schemas.microsoft.com/office/powerpoint/2010/main" val="53370616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D13C26-21E5-471C-B00D-8D6F687A9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3E0AEC-AF91-44C5-8FDB-DEFD26238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B61B77-332C-473C-99B0-42194720C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913ACF-0455-42B2-B019-CC2AA352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690857-F4E9-435A-A11F-3416EE25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Status und Abgabehinweise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BA30F0-88FD-48B4-A4E7-9B981AE10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Die Präsentation deckt die Bewertungskriterien ab und verweist auf Screenshots, Quellen und Prozessvideo.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5C32AD-0676-42FA-83DB-C2C356D85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90700"/>
            <a:ext cx="43815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D53E60-4C39-4ECA-B48E-6F767BD6D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76450"/>
            <a:ext cx="361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59669"/>
                </a:solidFill>
                <a:latin typeface="Aptos"/>
                <a:ea typeface="Aptos"/>
                <a:cs typeface="Aptos"/>
              </a:rPr>
              <a:t>Erledigt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B41A84-1FF5-4DA3-A56A-C3FEABF3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05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DC5E3B-9D11-42E0-A4B0-3DE795008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289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Prozess dokumentiert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E10343-2001-4D88-82F2-8DFB8870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A6F40A-E017-4DDD-9300-585C9ACA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480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Bewertungskriterien abgedeckt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F86843-80E0-40F3-8581-3539BCC77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43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5A03FB-30C8-4DB5-A2A8-4EC0307A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671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Output &amp; Quellen sichtbar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7B44F3-F934-40C7-B308-A1386715B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624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AF9F0E-3CB7-4B8E-97DB-C0EF1CD9E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862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Real-Run-Video erzeugt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413718-27B1-4409-BA1F-2FE7BAA7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90700"/>
            <a:ext cx="43815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5C382A-6059-4DB5-8131-933649106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76450"/>
            <a:ext cx="361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Abgabehinweise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A13F41-B4AE-4E6A-84ED-EA45ADCC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05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AC4319-DD73-4684-A9E7-D8729C25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289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Screenshots im Bericht nutzen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DD61FC-321C-4C36-819C-A0D9FFBE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C3D3DF-AA46-4531-BC09-0DB9EC6AA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480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SDD-Testing abgleichen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920DD7-4C92-4CCC-BC58-8E2817B5C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43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38BA1F-E0E0-4F42-9D27-EC26928F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671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Keine Secrets zeigen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BF4656-F896-4F76-911A-C0386DFD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624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B52928-EFD6-4F0D-8047-E87DF974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862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Live-Demo: Docker vorbereitet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CCBB39-E7E7-42B7-8DDF-BB0BD5EC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34000"/>
            <a:ext cx="971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Raum für Fragen</a:t>
            </a:r>
          </a:p>
        </p:txBody>
      </p:sp>
    </p:spTree>
    <p:extLst>
      <p:ext uri="{BB962C8B-B14F-4D97-AF65-F5344CB8AC3E}">
        <p14:creationId xmlns:p14="http://schemas.microsoft.com/office/powerpoint/2010/main" val="9056723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2026-05-30T19:35:14.2830000Z</dcterms:created>
  <dcterms:modified xsi:type="dcterms:W3CDTF">2026-05-30T19:35:14.2830000Z</dcterms:modified>
</coreProperties>
</file>