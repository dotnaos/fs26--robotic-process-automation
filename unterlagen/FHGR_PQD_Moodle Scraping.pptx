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402" r:id="rId2"/>
    <p:sldId id="405" r:id="rId3"/>
    <p:sldId id="410" r:id="rId4"/>
    <p:sldId id="406" r:id="rId5"/>
    <p:sldId id="413" r:id="rId6"/>
    <p:sldId id="407" r:id="rId7"/>
    <p:sldId id="403" r:id="rId8"/>
    <p:sldId id="411" r:id="rId9"/>
  </p:sldIdLst>
  <p:sldSz cx="12192000" cy="6858000"/>
  <p:notesSz cx="6797675" cy="9926638"/>
  <p:defaultTextStyle>
    <a:defPPr>
      <a:defRPr lang="de-CH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74CE5BCB-F91D-46E7-857E-F09F28034D45}">
          <p14:sldIdLst>
            <p14:sldId id="402"/>
            <p14:sldId id="405"/>
            <p14:sldId id="410"/>
            <p14:sldId id="406"/>
            <p14:sldId id="413"/>
            <p14:sldId id="407"/>
            <p14:sldId id="403"/>
            <p14:sldId id="41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CD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6866" autoAdjust="0"/>
  </p:normalViewPr>
  <p:slideViewPr>
    <p:cSldViewPr showGuides="1">
      <p:cViewPr>
        <p:scale>
          <a:sx n="66" d="100"/>
          <a:sy n="66" d="100"/>
        </p:scale>
        <p:origin x="552" y="2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81" d="100"/>
          <a:sy n="81" d="100"/>
        </p:scale>
        <p:origin x="3912" y="396"/>
      </p:cViewPr>
      <p:guideLst>
        <p:guide orient="horz" pos="3128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1"/>
            <a:ext cx="2945659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CH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6" y="1"/>
            <a:ext cx="2945659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de-CH"/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9428585"/>
            <a:ext cx="2945659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CH"/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6" y="9428585"/>
            <a:ext cx="2945659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2885CE8-301D-4EEB-A8FF-DB3D7729C7CC}" type="slidenum">
              <a:rPr lang="de-CH"/>
              <a:pPr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29867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1"/>
            <a:ext cx="2945659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6" y="1"/>
            <a:ext cx="2945659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900" y="742950"/>
            <a:ext cx="6619875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5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428585"/>
            <a:ext cx="2945659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6" y="9428585"/>
            <a:ext cx="2945659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20F0B72-9392-4C62-A693-CAC548427893}" type="slidenum">
              <a:rPr lang="en-US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891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0F0B72-9392-4C62-A693-CAC548427893}" type="slidenum">
              <a:rPr lang="en-US" smtClean="0"/>
              <a:pPr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898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t>1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409319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t>3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098865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17ED0-4191-64FE-21EF-64878A19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7188864-15AC-C2D3-B701-9D8238E4D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DE492FA-98B4-EBF7-3459-2FF805593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72ADA8-69C5-A8C9-A4B4-FDE193D46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t>4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960673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t>5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262589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F3010-8075-37F2-715E-27786ABC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4515F5D-7C33-91A0-1FF3-76F7BA03F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BCD3B15-95B9-8769-24BD-ED029ED839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9C35230-61DF-498E-4AE2-02D06307C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z="1000" smtClean="0"/>
              <a:t>7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148139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7" name="Rectangle 11"/>
          <p:cNvSpPr>
            <a:spLocks noChangeArrowheads="1"/>
          </p:cNvSpPr>
          <p:nvPr/>
        </p:nvSpPr>
        <p:spPr bwMode="auto">
          <a:xfrm>
            <a:off x="8915400" y="6337300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endParaRPr lang="en-US" sz="1400" dirty="0">
              <a:latin typeface="Arial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234000" y="5085184"/>
            <a:ext cx="11292058" cy="28803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/>
          </p:nvPr>
        </p:nvSpPr>
        <p:spPr>
          <a:xfrm>
            <a:off x="234000" y="5411316"/>
            <a:ext cx="8641283" cy="574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411858"/>
            <a:ext cx="2917099" cy="4752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4AC9AC8-019E-4244-A964-BC14034102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815" y="6419428"/>
            <a:ext cx="2609300" cy="219600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9107702" y="622800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4A6FE89E-EE3D-4475-AAB8-FFBB4AC8A873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>
          <a:xfrm>
            <a:off x="234000" y="1260000"/>
            <a:ext cx="11623038" cy="434519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4000" y="316180"/>
            <a:ext cx="11623038" cy="396304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sele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9107702" y="622800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4A6FE89E-EE3D-4475-AAB8-FFBB4AC8A873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5" name="Inhaltsplatzhalter 2"/>
          <p:cNvSpPr>
            <a:spLocks noGrp="1"/>
          </p:cNvSpPr>
          <p:nvPr>
            <p:ph sz="quarter" idx="11"/>
          </p:nvPr>
        </p:nvSpPr>
        <p:spPr>
          <a:xfrm>
            <a:off x="234000" y="1260000"/>
            <a:ext cx="5641506" cy="43451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2"/>
          </p:nvPr>
        </p:nvSpPr>
        <p:spPr>
          <a:xfrm>
            <a:off x="6192000" y="1260000"/>
            <a:ext cx="5641506" cy="434975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234000" y="316180"/>
            <a:ext cx="11623038" cy="396304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38499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9107702" y="622800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A234D1FC-664C-4763-A998-C95225C288E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sz="quarter" idx="12"/>
          </p:nvPr>
        </p:nvSpPr>
        <p:spPr>
          <a:xfrm>
            <a:off x="6228000" y="1260000"/>
            <a:ext cx="5641506" cy="434708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234000" y="1260000"/>
            <a:ext cx="5545136" cy="4249067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234000" y="316180"/>
            <a:ext cx="11623038" cy="396304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schlus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7" name="Rectangle 11"/>
          <p:cNvSpPr>
            <a:spLocks noChangeArrowheads="1"/>
          </p:cNvSpPr>
          <p:nvPr/>
        </p:nvSpPr>
        <p:spPr bwMode="auto">
          <a:xfrm>
            <a:off x="8915400" y="6337300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endParaRPr lang="en-US" sz="1400" dirty="0">
              <a:latin typeface="Arial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246876" y="5068614"/>
            <a:ext cx="11292058" cy="28803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776" y="5926700"/>
            <a:ext cx="1160132" cy="536487"/>
          </a:xfrm>
          <a:prstGeom prst="rect">
            <a:avLst/>
          </a:prstGeom>
        </p:spPr>
      </p:pic>
      <p:pic>
        <p:nvPicPr>
          <p:cNvPr id="9" name="Grafik 8"/>
          <p:cNvPicPr preferRelativeResize="0">
            <a:picLocks noChangeAspect="1"/>
          </p:cNvPicPr>
          <p:nvPr userDrawn="1"/>
        </p:nvPicPr>
        <p:blipFill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320" y="6329062"/>
            <a:ext cx="1554027" cy="179710"/>
          </a:xfrm>
          <a:prstGeom prst="rect">
            <a:avLst/>
          </a:prstGeom>
        </p:spPr>
      </p:pic>
      <p:sp>
        <p:nvSpPr>
          <p:cNvPr id="12" name="Textfeld 11"/>
          <p:cNvSpPr txBox="1"/>
          <p:nvPr userDrawn="1"/>
        </p:nvSpPr>
        <p:spPr>
          <a:xfrm>
            <a:off x="251347" y="332656"/>
            <a:ext cx="2232248" cy="93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b="1" dirty="0">
                <a:latin typeface="+mj-lt"/>
                <a:ea typeface="Roboto Light" panose="02000000000000000000" pitchFamily="2" charset="0"/>
                <a:cs typeface="Roboto Light" panose="02000000000000000000" pitchFamily="2" charset="0"/>
              </a:rPr>
              <a:t>Fachhochschule Graubünden</a:t>
            </a:r>
          </a:p>
          <a:p>
            <a:r>
              <a:rPr lang="de-CH" sz="1050" dirty="0">
                <a:latin typeface="+mj-lt"/>
                <a:ea typeface="Roboto Light" panose="02000000000000000000" pitchFamily="2" charset="0"/>
                <a:cs typeface="Roboto Light" panose="02000000000000000000" pitchFamily="2" charset="0"/>
              </a:rPr>
              <a:t>Pulvermühlestrasse 57</a:t>
            </a:r>
          </a:p>
          <a:p>
            <a:r>
              <a:rPr lang="de-CH" sz="1050" dirty="0">
                <a:latin typeface="+mj-lt"/>
                <a:ea typeface="Roboto Light" panose="02000000000000000000" pitchFamily="2" charset="0"/>
                <a:cs typeface="Roboto Light" panose="02000000000000000000" pitchFamily="2" charset="0"/>
              </a:rPr>
              <a:t>7000 Chur</a:t>
            </a:r>
          </a:p>
          <a:p>
            <a:r>
              <a:rPr lang="de-CH" sz="1050" dirty="0">
                <a:latin typeface="+mj-lt"/>
                <a:ea typeface="Roboto Light" panose="02000000000000000000" pitchFamily="2" charset="0"/>
                <a:cs typeface="Roboto Light" panose="02000000000000000000" pitchFamily="2" charset="0"/>
              </a:rPr>
              <a:t>T +41 81 286 24 24</a:t>
            </a:r>
          </a:p>
          <a:p>
            <a:r>
              <a:rPr lang="de-CH" sz="1050" dirty="0">
                <a:latin typeface="+mj-lt"/>
                <a:ea typeface="Roboto Light" panose="02000000000000000000" pitchFamily="2" charset="0"/>
                <a:cs typeface="Roboto Light" panose="02000000000000000000" pitchFamily="2" charset="0"/>
              </a:rPr>
              <a:t>info@fhgr.ch</a:t>
            </a:r>
          </a:p>
        </p:txBody>
      </p:sp>
      <p:sp>
        <p:nvSpPr>
          <p:cNvPr id="13" name="Textfeld 12"/>
          <p:cNvSpPr txBox="1"/>
          <p:nvPr userDrawn="1"/>
        </p:nvSpPr>
        <p:spPr>
          <a:xfrm>
            <a:off x="246876" y="5790922"/>
            <a:ext cx="34563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050" dirty="0">
                <a:latin typeface="+mj-lt"/>
              </a:rPr>
              <a:t>Fachhochschule Graubünden</a:t>
            </a:r>
          </a:p>
          <a:p>
            <a:r>
              <a:rPr lang="de-CH" sz="1050" dirty="0">
                <a:latin typeface="+mj-lt"/>
              </a:rPr>
              <a:t>Scola </a:t>
            </a:r>
            <a:r>
              <a:rPr lang="de-CH" sz="1050" dirty="0" err="1">
                <a:latin typeface="+mj-lt"/>
              </a:rPr>
              <a:t>auta</a:t>
            </a:r>
            <a:r>
              <a:rPr lang="de-CH" sz="1050" dirty="0">
                <a:latin typeface="+mj-lt"/>
              </a:rPr>
              <a:t> </a:t>
            </a:r>
            <a:r>
              <a:rPr lang="de-CH" sz="1050" dirty="0" err="1">
                <a:latin typeface="+mj-lt"/>
              </a:rPr>
              <a:t>spezialisada</a:t>
            </a:r>
            <a:r>
              <a:rPr lang="de-CH" sz="1050" dirty="0">
                <a:latin typeface="+mj-lt"/>
              </a:rPr>
              <a:t> </a:t>
            </a:r>
            <a:r>
              <a:rPr lang="de-CH" sz="1050" dirty="0" err="1">
                <a:latin typeface="+mj-lt"/>
              </a:rPr>
              <a:t>dal</a:t>
            </a:r>
            <a:r>
              <a:rPr lang="de-CH" sz="1050" dirty="0">
                <a:latin typeface="+mj-lt"/>
              </a:rPr>
              <a:t> </a:t>
            </a:r>
            <a:r>
              <a:rPr lang="de-CH" sz="1050" dirty="0" err="1">
                <a:latin typeface="+mj-lt"/>
              </a:rPr>
              <a:t>Grischun</a:t>
            </a:r>
            <a:endParaRPr lang="de-CH" sz="1050" dirty="0">
              <a:latin typeface="+mj-lt"/>
            </a:endParaRPr>
          </a:p>
          <a:p>
            <a:r>
              <a:rPr lang="de-CH" sz="1050" dirty="0" err="1">
                <a:latin typeface="+mj-lt"/>
              </a:rPr>
              <a:t>Scuola</a:t>
            </a:r>
            <a:r>
              <a:rPr lang="de-CH" sz="1050" dirty="0">
                <a:latin typeface="+mj-lt"/>
              </a:rPr>
              <a:t> </a:t>
            </a:r>
            <a:r>
              <a:rPr lang="de-CH" sz="1050" dirty="0" err="1">
                <a:latin typeface="+mj-lt"/>
              </a:rPr>
              <a:t>universitaria</a:t>
            </a:r>
            <a:r>
              <a:rPr lang="de-CH" sz="1050" dirty="0">
                <a:latin typeface="+mj-lt"/>
              </a:rPr>
              <a:t> professionale </a:t>
            </a:r>
            <a:r>
              <a:rPr lang="de-CH" sz="1050" dirty="0" err="1">
                <a:latin typeface="+mj-lt"/>
              </a:rPr>
              <a:t>dei</a:t>
            </a:r>
            <a:r>
              <a:rPr lang="de-CH" sz="1050" dirty="0">
                <a:latin typeface="+mj-lt"/>
              </a:rPr>
              <a:t> </a:t>
            </a:r>
            <a:r>
              <a:rPr lang="de-CH" sz="1050" dirty="0" err="1">
                <a:latin typeface="+mj-lt"/>
              </a:rPr>
              <a:t>Grigioni</a:t>
            </a:r>
            <a:endParaRPr lang="de-CH" sz="1050" dirty="0">
              <a:latin typeface="+mj-lt"/>
            </a:endParaRPr>
          </a:p>
          <a:p>
            <a:r>
              <a:rPr lang="de-CH" sz="1050" dirty="0">
                <a:latin typeface="+mj-lt"/>
              </a:rPr>
              <a:t>University </a:t>
            </a:r>
            <a:r>
              <a:rPr lang="de-CH" sz="1050" dirty="0" err="1">
                <a:latin typeface="+mj-lt"/>
              </a:rPr>
              <a:t>of</a:t>
            </a:r>
            <a:r>
              <a:rPr lang="de-CH" sz="1050" dirty="0">
                <a:latin typeface="+mj-lt"/>
              </a:rPr>
              <a:t> Applied Sciences </a:t>
            </a:r>
            <a:r>
              <a:rPr lang="de-CH" sz="1050" dirty="0" err="1">
                <a:latin typeface="+mj-lt"/>
              </a:rPr>
              <a:t>of</a:t>
            </a:r>
            <a:r>
              <a:rPr lang="de-CH" sz="1050" dirty="0">
                <a:latin typeface="+mj-lt"/>
              </a:rPr>
              <a:t> </a:t>
            </a:r>
            <a:r>
              <a:rPr lang="de-CH" sz="1050" dirty="0" err="1">
                <a:latin typeface="+mj-lt"/>
              </a:rPr>
              <a:t>the</a:t>
            </a:r>
            <a:r>
              <a:rPr lang="de-CH" sz="1050" dirty="0">
                <a:latin typeface="+mj-lt"/>
              </a:rPr>
              <a:t> Grisons</a:t>
            </a:r>
            <a:endParaRPr lang="de-CH" sz="1050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58388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633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de-CH" smtClean="0"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03701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/>
          <a:p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8FF9B0DE-3FEB-4AA0-B465-B80EF7C1333D}" type="slidenum">
              <a:rPr lang="de-CH" smtClean="0"/>
              <a:t>‹Nr.›</a:t>
            </a:fld>
            <a:endParaRPr lang="de-CH" dirty="0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black">
          <a:xfrm>
            <a:off x="1199455" y="332656"/>
            <a:ext cx="10512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de-CH"/>
              <a:t>Titel durch Klicken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377372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7702" y="6231208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E27715AB-78E0-46E0-A4DD-9D538A881797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045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234000" y="-54000"/>
            <a:ext cx="1129205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Titelmasterformat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5991808"/>
            <a:ext cx="479354" cy="478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6" r:id="rId5"/>
    <p:sldLayoutId id="2147483657" r:id="rId6"/>
    <p:sldLayoutId id="2147483658" r:id="rId7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003399"/>
          </a:solidFill>
          <a:latin typeface="Arial" charset="0"/>
        </a:defRPr>
      </a:lvl9pPr>
    </p:titleStyle>
    <p:bodyStyle>
      <a:lvl1pPr marL="3175" indent="-317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79425" indent="-285750" algn="l" rtl="0" eaLnBrk="1" fontAlgn="base" hangingPunct="1">
        <a:spcBef>
          <a:spcPct val="20000"/>
        </a:spcBef>
        <a:spcAft>
          <a:spcPct val="0"/>
        </a:spcAft>
        <a:buClrTx/>
        <a:buSzPct val="100000"/>
        <a:buFont typeface="Symbol" panose="05050102010706020507" pitchFamily="18" charset="2"/>
        <a:buChar char="-"/>
        <a:defRPr>
          <a:solidFill>
            <a:schemeClr val="tx1"/>
          </a:solidFill>
          <a:latin typeface="+mj-lt"/>
        </a:defRPr>
      </a:lvl2pPr>
      <a:lvl3pPr marL="1812925" indent="-285750" algn="l" rtl="0" eaLnBrk="1" fontAlgn="base" hangingPunct="1">
        <a:spcBef>
          <a:spcPct val="20000"/>
        </a:spcBef>
        <a:spcAft>
          <a:spcPct val="0"/>
        </a:spcAft>
        <a:buClrTx/>
        <a:buSzPct val="100000"/>
        <a:buFont typeface="Symbol" panose="05050102010706020507" pitchFamily="18" charset="2"/>
        <a:buChar char="-"/>
        <a:defRPr>
          <a:solidFill>
            <a:schemeClr val="tx1"/>
          </a:solidFill>
          <a:latin typeface="+mj-lt"/>
        </a:defRPr>
      </a:lvl3pPr>
      <a:lvl4pPr marL="2232025" indent="-285750" algn="l" rtl="0" eaLnBrk="1" fontAlgn="base" hangingPunct="1">
        <a:spcBef>
          <a:spcPct val="20000"/>
        </a:spcBef>
        <a:spcAft>
          <a:spcPct val="0"/>
        </a:spcAft>
        <a:buClrTx/>
        <a:buSzPct val="100000"/>
        <a:buFont typeface="Symbol" panose="05050102010706020507" pitchFamily="18" charset="2"/>
        <a:buChar char="-"/>
        <a:defRPr>
          <a:solidFill>
            <a:schemeClr val="tx1"/>
          </a:solidFill>
          <a:latin typeface="+mj-lt"/>
        </a:defRPr>
      </a:lvl4pPr>
      <a:lvl5pPr marL="2651125" indent="-285750" algn="l" rtl="0" eaLnBrk="1" fontAlgn="base" hangingPunct="1">
        <a:spcBef>
          <a:spcPct val="20000"/>
        </a:spcBef>
        <a:spcAft>
          <a:spcPct val="0"/>
        </a:spcAft>
        <a:buClrTx/>
        <a:buSzPct val="100000"/>
        <a:buFont typeface="Symbol" panose="05050102010706020507" pitchFamily="18" charset="2"/>
        <a:buChar char="-"/>
        <a:defRPr>
          <a:solidFill>
            <a:schemeClr val="tx1"/>
          </a:solidFill>
          <a:latin typeface="+mj-lt"/>
        </a:defRPr>
      </a:lvl5pPr>
      <a:lvl6pPr marL="3051175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defRPr>
          <a:solidFill>
            <a:schemeClr val="tx1"/>
          </a:solidFill>
          <a:latin typeface="+mn-lt"/>
        </a:defRPr>
      </a:lvl6pPr>
      <a:lvl7pPr marL="3508375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defRPr>
          <a:solidFill>
            <a:schemeClr val="tx1"/>
          </a:solidFill>
          <a:latin typeface="+mn-lt"/>
        </a:defRPr>
      </a:lvl7pPr>
      <a:lvl8pPr marL="3965575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defRPr>
          <a:solidFill>
            <a:schemeClr val="tx1"/>
          </a:solidFill>
          <a:latin typeface="+mn-lt"/>
        </a:defRPr>
      </a:lvl8pPr>
      <a:lvl9pPr marL="4422775" indent="-228600" algn="l" rtl="0" eaLnBrk="1" fontAlgn="base" hangingPunct="1">
        <a:spcBef>
          <a:spcPct val="20000"/>
        </a:spcBef>
        <a:spcAft>
          <a:spcPct val="0"/>
        </a:spcAft>
        <a:buClr>
          <a:srgbClr val="003399"/>
        </a:buClr>
        <a:buFont typeface="Wingdings" pitchFamily="2" charset="2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  <p15:guide id="7" pos="7469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4065" userDrawn="1">
          <p15:clr>
            <a:srgbClr val="F26B43"/>
          </p15:clr>
        </p15:guide>
        <p15:guide id="10" orient="horz" pos="799" userDrawn="1">
          <p15:clr>
            <a:srgbClr val="F26B43"/>
          </p15:clr>
        </p15:guide>
        <p15:guide id="11" orient="horz" pos="36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6000"/>
            <a:ext cx="12205444" cy="4760122"/>
          </a:xfrm>
          <a:prstGeom prst="rect">
            <a:avLst/>
          </a:prstGeom>
        </p:spPr>
      </p:pic>
      <p:sp>
        <p:nvSpPr>
          <p:cNvPr id="12" name="Gleichschenkliges Dreieck 11"/>
          <p:cNvSpPr/>
          <p:nvPr/>
        </p:nvSpPr>
        <p:spPr bwMode="white">
          <a:xfrm rot="10800000">
            <a:off x="-13444" y="-27384"/>
            <a:ext cx="12228034" cy="2520280"/>
          </a:xfrm>
          <a:custGeom>
            <a:avLst/>
            <a:gdLst>
              <a:gd name="connsiteX0" fmla="*/ 0 w 12189399"/>
              <a:gd name="connsiteY0" fmla="*/ 2304256 h 2304256"/>
              <a:gd name="connsiteX1" fmla="*/ 12189399 w 12189399"/>
              <a:gd name="connsiteY1" fmla="*/ 0 h 2304256"/>
              <a:gd name="connsiteX2" fmla="*/ 12189399 w 12189399"/>
              <a:gd name="connsiteY2" fmla="*/ 2304256 h 2304256"/>
              <a:gd name="connsiteX3" fmla="*/ 0 w 12189399"/>
              <a:gd name="connsiteY3" fmla="*/ 2304256 h 2304256"/>
              <a:gd name="connsiteX0" fmla="*/ 0 w 12189399"/>
              <a:gd name="connsiteY0" fmla="*/ 2304256 h 2304256"/>
              <a:gd name="connsiteX1" fmla="*/ 56579 w 12189399"/>
              <a:gd name="connsiteY1" fmla="*/ 969440 h 2304256"/>
              <a:gd name="connsiteX2" fmla="*/ 12189399 w 12189399"/>
              <a:gd name="connsiteY2" fmla="*/ 0 h 2304256"/>
              <a:gd name="connsiteX3" fmla="*/ 12189399 w 12189399"/>
              <a:gd name="connsiteY3" fmla="*/ 2304256 h 2304256"/>
              <a:gd name="connsiteX4" fmla="*/ 0 w 12189399"/>
              <a:gd name="connsiteY4" fmla="*/ 2304256 h 2304256"/>
              <a:gd name="connsiteX0" fmla="*/ 0 w 12189399"/>
              <a:gd name="connsiteY0" fmla="*/ 2304256 h 2304256"/>
              <a:gd name="connsiteX1" fmla="*/ 16474 w 12189399"/>
              <a:gd name="connsiteY1" fmla="*/ 969440 h 2304256"/>
              <a:gd name="connsiteX2" fmla="*/ 12189399 w 12189399"/>
              <a:gd name="connsiteY2" fmla="*/ 0 h 2304256"/>
              <a:gd name="connsiteX3" fmla="*/ 12189399 w 12189399"/>
              <a:gd name="connsiteY3" fmla="*/ 2304256 h 2304256"/>
              <a:gd name="connsiteX4" fmla="*/ 0 w 12189399"/>
              <a:gd name="connsiteY4" fmla="*/ 2304256 h 2304256"/>
              <a:gd name="connsiteX0" fmla="*/ 0 w 12221483"/>
              <a:gd name="connsiteY0" fmla="*/ 2304256 h 2304256"/>
              <a:gd name="connsiteX1" fmla="*/ 48558 w 12221483"/>
              <a:gd name="connsiteY1" fmla="*/ 969440 h 2304256"/>
              <a:gd name="connsiteX2" fmla="*/ 12221483 w 12221483"/>
              <a:gd name="connsiteY2" fmla="*/ 0 h 2304256"/>
              <a:gd name="connsiteX3" fmla="*/ 12221483 w 12221483"/>
              <a:gd name="connsiteY3" fmla="*/ 2304256 h 2304256"/>
              <a:gd name="connsiteX4" fmla="*/ 0 w 12221483"/>
              <a:gd name="connsiteY4" fmla="*/ 2304256 h 2304256"/>
              <a:gd name="connsiteX0" fmla="*/ 0 w 12221483"/>
              <a:gd name="connsiteY0" fmla="*/ 2304256 h 2304256"/>
              <a:gd name="connsiteX1" fmla="*/ 24495 w 12221483"/>
              <a:gd name="connsiteY1" fmla="*/ 696725 h 2304256"/>
              <a:gd name="connsiteX2" fmla="*/ 12221483 w 12221483"/>
              <a:gd name="connsiteY2" fmla="*/ 0 h 2304256"/>
              <a:gd name="connsiteX3" fmla="*/ 12221483 w 12221483"/>
              <a:gd name="connsiteY3" fmla="*/ 2304256 h 2304256"/>
              <a:gd name="connsiteX4" fmla="*/ 0 w 12221483"/>
              <a:gd name="connsiteY4" fmla="*/ 2304256 h 2304256"/>
              <a:gd name="connsiteX0" fmla="*/ 6567 w 12228050"/>
              <a:gd name="connsiteY0" fmla="*/ 2304256 h 2304256"/>
              <a:gd name="connsiteX1" fmla="*/ 14978 w 12228050"/>
              <a:gd name="connsiteY1" fmla="*/ 689391 h 2304256"/>
              <a:gd name="connsiteX2" fmla="*/ 12228050 w 12228050"/>
              <a:gd name="connsiteY2" fmla="*/ 0 h 2304256"/>
              <a:gd name="connsiteX3" fmla="*/ 12228050 w 12228050"/>
              <a:gd name="connsiteY3" fmla="*/ 2304256 h 2304256"/>
              <a:gd name="connsiteX4" fmla="*/ 6567 w 12228050"/>
              <a:gd name="connsiteY4" fmla="*/ 2304256 h 2304256"/>
              <a:gd name="connsiteX0" fmla="*/ 20779 w 12242262"/>
              <a:gd name="connsiteY0" fmla="*/ 2304256 h 2304256"/>
              <a:gd name="connsiteX1" fmla="*/ 13106 w 12242262"/>
              <a:gd name="connsiteY1" fmla="*/ 667390 h 2304256"/>
              <a:gd name="connsiteX2" fmla="*/ 12242262 w 12242262"/>
              <a:gd name="connsiteY2" fmla="*/ 0 h 2304256"/>
              <a:gd name="connsiteX3" fmla="*/ 12242262 w 12242262"/>
              <a:gd name="connsiteY3" fmla="*/ 2304256 h 2304256"/>
              <a:gd name="connsiteX4" fmla="*/ 20779 w 12242262"/>
              <a:gd name="connsiteY4" fmla="*/ 2304256 h 2304256"/>
              <a:gd name="connsiteX0" fmla="*/ 0 w 12253652"/>
              <a:gd name="connsiteY0" fmla="*/ 2282256 h 2304256"/>
              <a:gd name="connsiteX1" fmla="*/ 24496 w 12253652"/>
              <a:gd name="connsiteY1" fmla="*/ 667390 h 2304256"/>
              <a:gd name="connsiteX2" fmla="*/ 12253652 w 12253652"/>
              <a:gd name="connsiteY2" fmla="*/ 0 h 2304256"/>
              <a:gd name="connsiteX3" fmla="*/ 12253652 w 12253652"/>
              <a:gd name="connsiteY3" fmla="*/ 2304256 h 2304256"/>
              <a:gd name="connsiteX4" fmla="*/ 0 w 12253652"/>
              <a:gd name="connsiteY4" fmla="*/ 2282256 h 2304256"/>
              <a:gd name="connsiteX0" fmla="*/ 6567 w 12260219"/>
              <a:gd name="connsiteY0" fmla="*/ 2282256 h 2304256"/>
              <a:gd name="connsiteX1" fmla="*/ 14979 w 12260219"/>
              <a:gd name="connsiteY1" fmla="*/ 762726 h 2304256"/>
              <a:gd name="connsiteX2" fmla="*/ 12260219 w 12260219"/>
              <a:gd name="connsiteY2" fmla="*/ 0 h 2304256"/>
              <a:gd name="connsiteX3" fmla="*/ 12260219 w 12260219"/>
              <a:gd name="connsiteY3" fmla="*/ 2304256 h 2304256"/>
              <a:gd name="connsiteX4" fmla="*/ 6567 w 12260219"/>
              <a:gd name="connsiteY4" fmla="*/ 2282256 h 230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60219" h="2304256">
                <a:moveTo>
                  <a:pt x="6567" y="2282256"/>
                </a:moveTo>
                <a:cubicBezTo>
                  <a:pt x="54837" y="2270454"/>
                  <a:pt x="-33291" y="774528"/>
                  <a:pt x="14979" y="762726"/>
                </a:cubicBezTo>
                <a:lnTo>
                  <a:pt x="12260219" y="0"/>
                </a:lnTo>
                <a:lnTo>
                  <a:pt x="12260219" y="2304256"/>
                </a:lnTo>
                <a:lnTo>
                  <a:pt x="6567" y="22822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>
          <a:xfrm>
            <a:off x="334963" y="980728"/>
            <a:ext cx="11522075" cy="396044"/>
          </a:xfrm>
        </p:spPr>
        <p:txBody>
          <a:bodyPr/>
          <a:lstStyle/>
          <a:p>
            <a:pPr algn="ctr"/>
            <a:r>
              <a:rPr lang="de-CH" dirty="0"/>
              <a:t>RPA Prozessdokumentation – </a:t>
            </a:r>
            <a:r>
              <a:rPr lang="de-CH" dirty="0" err="1"/>
              <a:t>Moodle</a:t>
            </a:r>
            <a:r>
              <a:rPr lang="de-CH" dirty="0"/>
              <a:t> Lernplan</a:t>
            </a:r>
            <a:endParaRPr lang="de-CH" noProof="0" dirty="0">
              <a:solidFill>
                <a:schemeClr val="tx1"/>
              </a:solidFill>
            </a:endParaRPr>
          </a:p>
        </p:txBody>
      </p:sp>
      <p:sp>
        <p:nvSpPr>
          <p:cNvPr id="17" name="Textplatzhalter 10"/>
          <p:cNvSpPr>
            <a:spLocks noGrp="1"/>
          </p:cNvSpPr>
          <p:nvPr>
            <p:ph type="body" sz="quarter" idx="11"/>
          </p:nvPr>
        </p:nvSpPr>
        <p:spPr>
          <a:xfrm>
            <a:off x="242608" y="6354760"/>
            <a:ext cx="2592287" cy="41062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CH" sz="1600" dirty="0"/>
              <a:t>04</a:t>
            </a:r>
            <a:r>
              <a:rPr lang="de-CH" sz="1600" noProof="0" dirty="0"/>
              <a:t>. </a:t>
            </a:r>
            <a:r>
              <a:rPr lang="de-CH" sz="1600" dirty="0"/>
              <a:t>Juni </a:t>
            </a:r>
            <a:r>
              <a:rPr lang="de-CH" sz="1600" noProof="0" dirty="0"/>
              <a:t>2026</a:t>
            </a:r>
          </a:p>
        </p:txBody>
      </p:sp>
      <p:sp>
        <p:nvSpPr>
          <p:cNvPr id="7" name="Rechteck 6"/>
          <p:cNvSpPr/>
          <p:nvPr/>
        </p:nvSpPr>
        <p:spPr>
          <a:xfrm>
            <a:off x="334962" y="1319830"/>
            <a:ext cx="115220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CH" sz="1800" dirty="0" err="1">
                <a:latin typeface="+mj-lt"/>
              </a:rPr>
              <a:t>Moodle</a:t>
            </a:r>
            <a:r>
              <a:rPr lang="de-CH" sz="1800" dirty="0">
                <a:latin typeface="+mj-lt"/>
              </a:rPr>
              <a:t>-</a:t>
            </a:r>
            <a:r>
              <a:rPr lang="de-CH" sz="1800" dirty="0" err="1">
                <a:latin typeface="+mj-lt"/>
              </a:rPr>
              <a:t>to</a:t>
            </a:r>
            <a:r>
              <a:rPr lang="de-CH" sz="1800" dirty="0">
                <a:latin typeface="+mj-lt"/>
              </a:rPr>
              <a:t>-LLM Study Planner </a:t>
            </a:r>
            <a:endParaRPr lang="de-DE" sz="1800" kern="0" dirty="0">
              <a:latin typeface="+mj-lt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411858"/>
            <a:ext cx="2917099" cy="4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932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FD70BF3-08D5-4548-BE00-48AC18349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FD70BF3-08D5-4548-BE00-48AC18349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ED1ACA0-E626-4FF2-858A-9C7A61CF5573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110000"/>
              </a:lnSpc>
            </a:pPr>
            <a:endParaRPr lang="de-CH" sz="2400" b="1" dirty="0">
              <a:solidFill>
                <a:schemeClr val="tx1"/>
              </a:solidFill>
              <a:latin typeface="TheSans Swisscom Light" panose="020B0303020202020204" pitchFamily="34" charset="0"/>
              <a:ea typeface="+mj-ea"/>
              <a:cs typeface="+mj-cs"/>
              <a:sym typeface="TheSans Swisscom Light" panose="020B0303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70CF0-C207-4D2C-9826-72332138C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8976" y="6231208"/>
            <a:ext cx="2844800" cy="476250"/>
          </a:xfrm>
        </p:spPr>
        <p:txBody>
          <a:bodyPr/>
          <a:lstStyle/>
          <a:p>
            <a:fld id="{8FF9B0DE-3FEB-4AA0-B465-B80EF7C1333D}" type="slidenum">
              <a:rPr lang="de-CH" smtClean="0">
                <a:latin typeface="+mj-lt"/>
              </a:rPr>
              <a:pPr/>
              <a:t>1</a:t>
            </a:fld>
            <a:endParaRPr lang="de-CH" dirty="0">
              <a:latin typeface="+mj-l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1B1C7B-194D-455B-9A9E-0AFC61775A4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1891" y="342134"/>
            <a:ext cx="10510837" cy="719138"/>
          </a:xfrm>
        </p:spPr>
        <p:txBody>
          <a:bodyPr>
            <a:normAutofit/>
          </a:bodyPr>
          <a:lstStyle/>
          <a:p>
            <a:r>
              <a:rPr lang="de-CH" sz="2400" dirty="0"/>
              <a:t>PQD – Prozessübersicht und -informationen</a:t>
            </a:r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A113C6BE-8B03-4CA3-8699-E4A27BC15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282734"/>
              </p:ext>
            </p:extLst>
          </p:nvPr>
        </p:nvGraphicFramePr>
        <p:xfrm>
          <a:off x="911424" y="1484313"/>
          <a:ext cx="3815730" cy="520181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815730">
                  <a:extLst>
                    <a:ext uri="{9D8B030D-6E8A-4147-A177-3AD203B41FA5}">
                      <a16:colId xmlns:a16="http://schemas.microsoft.com/office/drawing/2014/main" val="1142550172"/>
                    </a:ext>
                  </a:extLst>
                </a:gridCol>
              </a:tblGrid>
              <a:tr h="323771">
                <a:tc>
                  <a:txBody>
                    <a:bodyPr/>
                    <a:lstStyle/>
                    <a:p>
                      <a:pPr algn="ctr"/>
                      <a:r>
                        <a:rPr lang="de-CH" sz="1400" dirty="0"/>
                        <a:t>Prozessablauf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16526"/>
                  </a:ext>
                </a:extLst>
              </a:tr>
              <a:tr h="4878045">
                <a:tc>
                  <a:txBody>
                    <a:bodyPr/>
                    <a:lstStyle/>
                    <a:p>
                      <a:pPr algn="ctr"/>
                      <a:r>
                        <a:rPr lang="en-US" sz="4800" i="1" dirty="0" err="1"/>
                        <a:t>Seite</a:t>
                      </a:r>
                      <a:r>
                        <a:rPr lang="en-US" sz="4800" i="1" dirty="0"/>
                        <a:t> 2</a:t>
                      </a:r>
                      <a:endParaRPr lang="de-CH" sz="4800" i="1" dirty="0"/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0634820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CCAE4946-EAA6-4710-976B-D1BF5F7B1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32407"/>
              </p:ext>
            </p:extLst>
          </p:nvPr>
        </p:nvGraphicFramePr>
        <p:xfrm>
          <a:off x="4871517" y="1486020"/>
          <a:ext cx="3815730" cy="520181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20327">
                  <a:extLst>
                    <a:ext uri="{9D8B030D-6E8A-4147-A177-3AD203B41FA5}">
                      <a16:colId xmlns:a16="http://schemas.microsoft.com/office/drawing/2014/main" val="3961691327"/>
                    </a:ext>
                  </a:extLst>
                </a:gridCol>
                <a:gridCol w="3295403">
                  <a:extLst>
                    <a:ext uri="{9D8B030D-6E8A-4147-A177-3AD203B41FA5}">
                      <a16:colId xmlns:a16="http://schemas.microsoft.com/office/drawing/2014/main" val="1142550172"/>
                    </a:ext>
                  </a:extLst>
                </a:gridCol>
              </a:tblGrid>
              <a:tr h="288503">
                <a:tc gridSpan="2">
                  <a:txBody>
                    <a:bodyPr/>
                    <a:lstStyle/>
                    <a:p>
                      <a:r>
                        <a:rPr lang="de-CH" sz="1400" dirty="0"/>
                        <a:t>Prozessbeschreibung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CH" sz="1400" dirty="0"/>
                    </a:p>
                  </a:txBody>
                  <a:tcPr>
                    <a:lnL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AB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1652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Benutzer startet den Bot-Prozess manuell.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063482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</a:t>
                      </a:r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und API </a:t>
                      </a:r>
                      <a:r>
                        <a:rPr lang="de-CH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keys</a:t>
                      </a:r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laden</a:t>
                      </a:r>
                      <a:endParaRPr lang="de-CH" sz="10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536569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Moodle Login</a:t>
                      </a:r>
                      <a:endParaRPr lang="de-CH" sz="10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5112158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Dashboard scannen: Kursliste extrahieren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85577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Nächster Kurs?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93981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JA: Kurs-Details </a:t>
                      </a:r>
                      <a:r>
                        <a:rPr lang="de-CH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scrapen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109529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Semesterinformation PDF suchen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3217295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Semesterinformation </a:t>
                      </a:r>
                      <a:r>
                        <a:rPr lang="de-CH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scrapen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499339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Daten an LLM senden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0556918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Validierung</a:t>
                      </a:r>
                      <a:endParaRPr lang="de-CH" sz="10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548104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Invalid &amp; </a:t>
                      </a:r>
                      <a:r>
                        <a:rPr lang="de-CH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Retry</a:t>
                      </a:r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&lt; 3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318322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Invalid &amp; </a:t>
                      </a:r>
                      <a:r>
                        <a:rPr lang="de-CH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Retry</a:t>
                      </a:r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&gt;= 3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699855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</a:t>
                      </a:r>
                      <a:endParaRPr lang="de-CH" sz="10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979555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Rücksprung zur Kursprüfung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3923647"/>
                  </a:ext>
                </a:extLst>
              </a:tr>
              <a:tr h="306508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NEIN: Abschluss-E-Mail schreiben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9495219"/>
                  </a:ext>
                </a:extLst>
              </a:tr>
              <a:tr h="306508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Ende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918477"/>
                  </a:ext>
                </a:extLst>
              </a:tr>
            </a:tbl>
          </a:graphicData>
        </a:graphic>
      </p:graphicFrame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2EF5F8BD-38CC-4AEC-AC87-0FFC0147FA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460099"/>
              </p:ext>
            </p:extLst>
          </p:nvPr>
        </p:nvGraphicFramePr>
        <p:xfrm>
          <a:off x="8831610" y="1486020"/>
          <a:ext cx="2591118" cy="18897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961691327"/>
                    </a:ext>
                  </a:extLst>
                </a:gridCol>
                <a:gridCol w="1294974">
                  <a:extLst>
                    <a:ext uri="{9D8B030D-6E8A-4147-A177-3AD203B41FA5}">
                      <a16:colId xmlns:a16="http://schemas.microsoft.com/office/drawing/2014/main" val="1142550172"/>
                    </a:ext>
                  </a:extLst>
                </a:gridCol>
              </a:tblGrid>
              <a:tr h="288503">
                <a:tc gridSpan="2">
                  <a:txBody>
                    <a:bodyPr/>
                    <a:lstStyle/>
                    <a:p>
                      <a:r>
                        <a:rPr lang="de-CH" sz="1400" dirty="0">
                          <a:latin typeface="+mj-lt"/>
                        </a:rPr>
                        <a:t>Stakeholder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CH" sz="1400" dirty="0"/>
                    </a:p>
                  </a:txBody>
                  <a:tcPr>
                    <a:lnL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AB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1652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r>
                        <a:rPr lang="de-CH" sz="1000" dirty="0">
                          <a:latin typeface="+mj-lt"/>
                        </a:rPr>
                        <a:t>Projektleiter / RPA Business Analyst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>
                          <a:latin typeface="+mj-lt"/>
                        </a:rPr>
                        <a:t>Florin Gartmann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063482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r>
                        <a:rPr lang="de-CH" sz="1000" dirty="0">
                          <a:latin typeface="+mj-lt"/>
                        </a:rPr>
                        <a:t>Prozessverantwortlicher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Oliver Schütz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536569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r>
                        <a:rPr lang="de-CH" sz="1000" dirty="0">
                          <a:latin typeface="+mj-lt"/>
                        </a:rPr>
                        <a:t>Teamleiter/Sachbearbeiter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Alessio De Icco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5112158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r>
                        <a:rPr lang="de-CH" sz="1000" dirty="0">
                          <a:latin typeface="+mj-lt"/>
                        </a:rPr>
                        <a:t>RPA Entwickler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Michal </a:t>
                      </a:r>
                      <a:r>
                        <a:rPr lang="de-CH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Karczmarzyk</a:t>
                      </a:r>
                      <a:endParaRPr kumimoji="0" lang="de-CH" sz="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8557707"/>
                  </a:ext>
                </a:extLst>
              </a:tr>
            </a:tbl>
          </a:graphicData>
        </a:graphic>
      </p:graphicFrame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965FBB9B-12B7-4CBE-B49F-97951CDC0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79487"/>
              </p:ext>
            </p:extLst>
          </p:nvPr>
        </p:nvGraphicFramePr>
        <p:xfrm>
          <a:off x="8831610" y="3375364"/>
          <a:ext cx="2591118" cy="331076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3961691327"/>
                    </a:ext>
                  </a:extLst>
                </a:gridCol>
                <a:gridCol w="1366982">
                  <a:extLst>
                    <a:ext uri="{9D8B030D-6E8A-4147-A177-3AD203B41FA5}">
                      <a16:colId xmlns:a16="http://schemas.microsoft.com/office/drawing/2014/main" val="1142550172"/>
                    </a:ext>
                  </a:extLst>
                </a:gridCol>
              </a:tblGrid>
              <a:tr h="305662">
                <a:tc gridSpan="2">
                  <a:txBody>
                    <a:bodyPr/>
                    <a:lstStyle/>
                    <a:p>
                      <a:r>
                        <a:rPr lang="de-CH" sz="1400" dirty="0"/>
                        <a:t>Prozessinformationen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CH" sz="1400" dirty="0"/>
                    </a:p>
                  </a:txBody>
                  <a:tcPr>
                    <a:lnL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AB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16526"/>
                  </a:ext>
                </a:extLst>
              </a:tr>
              <a:tr h="306864">
                <a:tc>
                  <a:txBody>
                    <a:bodyPr/>
                    <a:lstStyle/>
                    <a:p>
                      <a:r>
                        <a:rPr lang="de-CH" sz="1000" dirty="0"/>
                        <a:t>Frequenz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Wöchentlich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0634820"/>
                  </a:ext>
                </a:extLst>
              </a:tr>
              <a:tr h="306864">
                <a:tc>
                  <a:txBody>
                    <a:bodyPr/>
                    <a:lstStyle/>
                    <a:p>
                      <a:r>
                        <a:rPr lang="de-CH" sz="1000" dirty="0"/>
                        <a:t>Zeitpunkt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Beliebig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5365692"/>
                  </a:ext>
                </a:extLst>
              </a:tr>
              <a:tr h="306864">
                <a:tc>
                  <a:txBody>
                    <a:bodyPr/>
                    <a:lstStyle/>
                    <a:p>
                      <a:r>
                        <a:rPr lang="de-CH" sz="1000" dirty="0"/>
                        <a:t>Prozessdauer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15 min. / Fall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5112158"/>
                  </a:ext>
                </a:extLst>
              </a:tr>
              <a:tr h="306864">
                <a:tc>
                  <a:txBody>
                    <a:bodyPr/>
                    <a:lstStyle/>
                    <a:p>
                      <a:r>
                        <a:rPr lang="de-CH" sz="1000" dirty="0"/>
                        <a:t>Prozessvolumen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dirty="0"/>
                        <a:t>10 Fälle / Woche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717471"/>
                  </a:ext>
                </a:extLst>
              </a:tr>
              <a:tr h="306864">
                <a:tc>
                  <a:txBody>
                    <a:bodyPr/>
                    <a:lstStyle/>
                    <a:p>
                      <a:r>
                        <a:rPr lang="de-CH" sz="1000" dirty="0"/>
                        <a:t>Max. Volumen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dirty="0"/>
                        <a:t>20 Fälle / Woche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8557707"/>
                  </a:ext>
                </a:extLst>
              </a:tr>
              <a:tr h="306864">
                <a:tc>
                  <a:txBody>
                    <a:bodyPr/>
                    <a:lstStyle/>
                    <a:p>
                      <a:r>
                        <a:rPr lang="de-CH" sz="1000" dirty="0"/>
                        <a:t>SLA pro Fall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dirty="0"/>
                        <a:t>Sofort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012044"/>
                  </a:ext>
                </a:extLst>
              </a:tr>
              <a:tr h="550190">
                <a:tc>
                  <a:txBody>
                    <a:bodyPr/>
                    <a:lstStyle/>
                    <a:p>
                      <a:r>
                        <a:rPr lang="de-CH" sz="1000" dirty="0"/>
                        <a:t>Anzahl automatisierbare Prozessstunden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35h / 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939811"/>
                  </a:ext>
                </a:extLst>
              </a:tr>
              <a:tr h="306864">
                <a:tc>
                  <a:txBody>
                    <a:bodyPr/>
                    <a:lstStyle/>
                    <a:p>
                      <a:r>
                        <a:rPr lang="de-CH" sz="1000" dirty="0"/>
                        <a:t>Frequenz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Wöchentlich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5411146"/>
                  </a:ext>
                </a:extLst>
              </a:tr>
              <a:tr h="306864">
                <a:tc>
                  <a:txBody>
                    <a:bodyPr/>
                    <a:lstStyle/>
                    <a:p>
                      <a:r>
                        <a:rPr lang="de-CH" sz="1000" dirty="0"/>
                        <a:t>Kundendaten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Ja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555506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842A31-70F4-49FA-A3F2-F35808FBD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326778"/>
              </p:ext>
            </p:extLst>
          </p:nvPr>
        </p:nvGraphicFramePr>
        <p:xfrm>
          <a:off x="7823498" y="410760"/>
          <a:ext cx="4033142" cy="3060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80814">
                  <a:extLst>
                    <a:ext uri="{9D8B030D-6E8A-4147-A177-3AD203B41FA5}">
                      <a16:colId xmlns:a16="http://schemas.microsoft.com/office/drawing/2014/main" val="4041325946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47720689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r"/>
                      <a:r>
                        <a:rPr lang="de-CH" sz="1000" dirty="0"/>
                        <a:t>Komplexität: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>
                          <a:solidFill>
                            <a:schemeClr val="tx1"/>
                          </a:solidFill>
                        </a:rPr>
                        <a:t>Mittel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813026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E618E26E-E593-4723-9946-A26494752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946329"/>
              </p:ext>
            </p:extLst>
          </p:nvPr>
        </p:nvGraphicFramePr>
        <p:xfrm>
          <a:off x="7823498" y="769176"/>
          <a:ext cx="4033142" cy="5486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80814">
                  <a:extLst>
                    <a:ext uri="{9D8B030D-6E8A-4147-A177-3AD203B41FA5}">
                      <a16:colId xmlns:a16="http://schemas.microsoft.com/office/drawing/2014/main" val="4041325946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47720689"/>
                    </a:ext>
                  </a:extLst>
                </a:gridCol>
              </a:tblGrid>
              <a:tr h="499584">
                <a:tc>
                  <a:txBody>
                    <a:bodyPr/>
                    <a:lstStyle/>
                    <a:p>
                      <a:pPr algn="r"/>
                      <a:r>
                        <a:rPr lang="de-CH" sz="1000" dirty="0"/>
                        <a:t>Ziele: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de-DE" altLang="de-DE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Automatisierte Erstellung strukturierter Lernpläne aus </a:t>
                      </a:r>
                      <a:r>
                        <a:rPr kumimoji="0" lang="de-DE" altLang="de-DE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Moodle</a:t>
                      </a:r>
                      <a:r>
                        <a:rPr kumimoji="0" lang="de-DE" altLang="de-DE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-Daten </a:t>
                      </a: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de-DE" altLang="de-DE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Reduktion des manuellen Kopieraufwands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813026"/>
                  </a:ext>
                </a:extLst>
              </a:tr>
            </a:tbl>
          </a:graphicData>
        </a:graphic>
      </p:graphicFrame>
      <p:sp>
        <p:nvSpPr>
          <p:cNvPr id="39" name="Rectangle 8">
            <a:extLst>
              <a:ext uri="{FF2B5EF4-FFF2-40B4-BE49-F238E27FC236}">
                <a16:creationId xmlns:a16="http://schemas.microsoft.com/office/drawing/2014/main" id="{66159B63-3A8B-4570-A27F-49906A1CBD55}"/>
              </a:ext>
            </a:extLst>
          </p:cNvPr>
          <p:cNvSpPr/>
          <p:nvPr/>
        </p:nvSpPr>
        <p:spPr bwMode="gray">
          <a:xfrm>
            <a:off x="5023157" y="1833166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id="{B4EF952C-EFD5-4085-A4B0-3B0CE3F1EB3A}"/>
              </a:ext>
            </a:extLst>
          </p:cNvPr>
          <p:cNvSpPr/>
          <p:nvPr/>
        </p:nvSpPr>
        <p:spPr bwMode="gray">
          <a:xfrm>
            <a:off x="5023157" y="2139564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41" name="Rectangle 8">
            <a:extLst>
              <a:ext uri="{FF2B5EF4-FFF2-40B4-BE49-F238E27FC236}">
                <a16:creationId xmlns:a16="http://schemas.microsoft.com/office/drawing/2014/main" id="{7BEC75E4-A3F2-4E9E-AE20-EC0A330E3320}"/>
              </a:ext>
            </a:extLst>
          </p:cNvPr>
          <p:cNvSpPr/>
          <p:nvPr/>
        </p:nvSpPr>
        <p:spPr bwMode="gray">
          <a:xfrm>
            <a:off x="5023157" y="2445962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43" name="Rectangle 8">
            <a:extLst>
              <a:ext uri="{FF2B5EF4-FFF2-40B4-BE49-F238E27FC236}">
                <a16:creationId xmlns:a16="http://schemas.microsoft.com/office/drawing/2014/main" id="{2CBF6ADD-0069-46CF-8B80-8B3890BE62A9}"/>
              </a:ext>
            </a:extLst>
          </p:cNvPr>
          <p:cNvSpPr/>
          <p:nvPr/>
        </p:nvSpPr>
        <p:spPr bwMode="gray">
          <a:xfrm>
            <a:off x="5023157" y="3058758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5</a:t>
            </a:r>
          </a:p>
        </p:txBody>
      </p:sp>
      <p:sp>
        <p:nvSpPr>
          <p:cNvPr id="44" name="Rectangle 8">
            <a:extLst>
              <a:ext uri="{FF2B5EF4-FFF2-40B4-BE49-F238E27FC236}">
                <a16:creationId xmlns:a16="http://schemas.microsoft.com/office/drawing/2014/main" id="{58140332-528E-4214-BE67-1CA4BBBFF6CB}"/>
              </a:ext>
            </a:extLst>
          </p:cNvPr>
          <p:cNvSpPr/>
          <p:nvPr/>
        </p:nvSpPr>
        <p:spPr bwMode="gray">
          <a:xfrm>
            <a:off x="5023157" y="3365156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6</a:t>
            </a:r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DDD97235-2692-4E69-8C87-E93681BBBC3A}"/>
              </a:ext>
            </a:extLst>
          </p:cNvPr>
          <p:cNvSpPr/>
          <p:nvPr/>
        </p:nvSpPr>
        <p:spPr bwMode="gray">
          <a:xfrm>
            <a:off x="5023157" y="3671554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7</a:t>
            </a:r>
          </a:p>
        </p:txBody>
      </p:sp>
      <p:sp>
        <p:nvSpPr>
          <p:cNvPr id="46" name="Rectangle 8">
            <a:extLst>
              <a:ext uri="{FF2B5EF4-FFF2-40B4-BE49-F238E27FC236}">
                <a16:creationId xmlns:a16="http://schemas.microsoft.com/office/drawing/2014/main" id="{DFA0E1E3-8803-427B-8DA4-414878ABED0B}"/>
              </a:ext>
            </a:extLst>
          </p:cNvPr>
          <p:cNvSpPr/>
          <p:nvPr/>
        </p:nvSpPr>
        <p:spPr bwMode="gray">
          <a:xfrm>
            <a:off x="5023157" y="4590748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10</a:t>
            </a:r>
          </a:p>
        </p:txBody>
      </p:sp>
      <p:sp>
        <p:nvSpPr>
          <p:cNvPr id="47" name="Rectangle 8">
            <a:extLst>
              <a:ext uri="{FF2B5EF4-FFF2-40B4-BE49-F238E27FC236}">
                <a16:creationId xmlns:a16="http://schemas.microsoft.com/office/drawing/2014/main" id="{9540E749-056B-4087-A311-32736BBA114A}"/>
              </a:ext>
            </a:extLst>
          </p:cNvPr>
          <p:cNvSpPr/>
          <p:nvPr/>
        </p:nvSpPr>
        <p:spPr bwMode="gray">
          <a:xfrm>
            <a:off x="5023157" y="5203544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12</a:t>
            </a:r>
          </a:p>
        </p:txBody>
      </p:sp>
      <p:sp>
        <p:nvSpPr>
          <p:cNvPr id="48" name="Rectangle 8">
            <a:extLst>
              <a:ext uri="{FF2B5EF4-FFF2-40B4-BE49-F238E27FC236}">
                <a16:creationId xmlns:a16="http://schemas.microsoft.com/office/drawing/2014/main" id="{D0934D5D-A411-4F6D-97FB-F8F59A30A3D0}"/>
              </a:ext>
            </a:extLst>
          </p:cNvPr>
          <p:cNvSpPr/>
          <p:nvPr/>
        </p:nvSpPr>
        <p:spPr bwMode="gray">
          <a:xfrm>
            <a:off x="5023157" y="3977952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8</a:t>
            </a:r>
          </a:p>
        </p:txBody>
      </p:sp>
      <p:sp>
        <p:nvSpPr>
          <p:cNvPr id="49" name="Rectangle 8">
            <a:extLst>
              <a:ext uri="{FF2B5EF4-FFF2-40B4-BE49-F238E27FC236}">
                <a16:creationId xmlns:a16="http://schemas.microsoft.com/office/drawing/2014/main" id="{D546BCDD-5FC3-450E-B772-D9E2EA9894A5}"/>
              </a:ext>
            </a:extLst>
          </p:cNvPr>
          <p:cNvSpPr/>
          <p:nvPr/>
        </p:nvSpPr>
        <p:spPr bwMode="gray">
          <a:xfrm>
            <a:off x="5023157" y="4897146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11</a:t>
            </a:r>
          </a:p>
        </p:txBody>
      </p:sp>
      <p:sp>
        <p:nvSpPr>
          <p:cNvPr id="50" name="Rectangle 8">
            <a:extLst>
              <a:ext uri="{FF2B5EF4-FFF2-40B4-BE49-F238E27FC236}">
                <a16:creationId xmlns:a16="http://schemas.microsoft.com/office/drawing/2014/main" id="{18D9A3AD-AC29-4904-B368-3E0263D9740E}"/>
              </a:ext>
            </a:extLst>
          </p:cNvPr>
          <p:cNvSpPr/>
          <p:nvPr/>
        </p:nvSpPr>
        <p:spPr bwMode="gray">
          <a:xfrm>
            <a:off x="5023157" y="5509942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13</a:t>
            </a:r>
          </a:p>
        </p:txBody>
      </p:sp>
      <p:sp>
        <p:nvSpPr>
          <p:cNvPr id="51" name="Rectangle 8">
            <a:extLst>
              <a:ext uri="{FF2B5EF4-FFF2-40B4-BE49-F238E27FC236}">
                <a16:creationId xmlns:a16="http://schemas.microsoft.com/office/drawing/2014/main" id="{A2327AC1-0134-4757-AC4A-9224E5D55F54}"/>
              </a:ext>
            </a:extLst>
          </p:cNvPr>
          <p:cNvSpPr/>
          <p:nvPr/>
        </p:nvSpPr>
        <p:spPr bwMode="gray">
          <a:xfrm>
            <a:off x="5023157" y="5816340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14</a:t>
            </a:r>
          </a:p>
        </p:txBody>
      </p:sp>
      <p:sp>
        <p:nvSpPr>
          <p:cNvPr id="52" name="Rectangle 8">
            <a:extLst>
              <a:ext uri="{FF2B5EF4-FFF2-40B4-BE49-F238E27FC236}">
                <a16:creationId xmlns:a16="http://schemas.microsoft.com/office/drawing/2014/main" id="{899EDD32-FAB4-4C60-BB0A-E5110AAAAF0A}"/>
              </a:ext>
            </a:extLst>
          </p:cNvPr>
          <p:cNvSpPr/>
          <p:nvPr/>
        </p:nvSpPr>
        <p:spPr bwMode="gray">
          <a:xfrm>
            <a:off x="5023157" y="4284350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9</a:t>
            </a:r>
          </a:p>
        </p:txBody>
      </p:sp>
      <p:sp>
        <p:nvSpPr>
          <p:cNvPr id="53" name="Rectangle 8">
            <a:extLst>
              <a:ext uri="{FF2B5EF4-FFF2-40B4-BE49-F238E27FC236}">
                <a16:creationId xmlns:a16="http://schemas.microsoft.com/office/drawing/2014/main" id="{32807790-D566-42BB-BFE2-F5F616A2997B}"/>
              </a:ext>
            </a:extLst>
          </p:cNvPr>
          <p:cNvSpPr/>
          <p:nvPr/>
        </p:nvSpPr>
        <p:spPr bwMode="gray">
          <a:xfrm>
            <a:off x="5023157" y="2752360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sp>
        <p:nvSpPr>
          <p:cNvPr id="54" name="Rectangle 8">
            <a:extLst>
              <a:ext uri="{FF2B5EF4-FFF2-40B4-BE49-F238E27FC236}">
                <a16:creationId xmlns:a16="http://schemas.microsoft.com/office/drawing/2014/main" id="{774CEF3C-5925-4AD3-94E1-3434DD22CF7F}"/>
              </a:ext>
            </a:extLst>
          </p:cNvPr>
          <p:cNvSpPr/>
          <p:nvPr/>
        </p:nvSpPr>
        <p:spPr bwMode="gray">
          <a:xfrm>
            <a:off x="5026540" y="6122743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504D35-7BCA-645A-7F2F-8ACFDF90E94B}"/>
              </a:ext>
            </a:extLst>
          </p:cNvPr>
          <p:cNvSpPr/>
          <p:nvPr/>
        </p:nvSpPr>
        <p:spPr bwMode="gray">
          <a:xfrm>
            <a:off x="5023157" y="6429141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896929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046AB5D-500B-1D7B-2EB1-56984068B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 smtClean="0"/>
              <a:t>2</a:t>
            </a:fld>
            <a:endParaRPr lang="de-CH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9190F0E-D953-6197-033E-CEEA80EDC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92" y="0"/>
            <a:ext cx="103918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128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FD70BF3-08D5-4548-BE00-48AC18349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FD70BF3-08D5-4548-BE00-48AC18349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ED1ACA0-E626-4FF2-858A-9C7A61CF5573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110000"/>
              </a:lnSpc>
            </a:pPr>
            <a:endParaRPr lang="de-CH" sz="2400" b="1" dirty="0">
              <a:solidFill>
                <a:schemeClr val="tx1"/>
              </a:solidFill>
              <a:latin typeface="TheSans Swisscom Light" panose="020B0303020202020204" pitchFamily="34" charset="0"/>
              <a:ea typeface="+mj-ea"/>
              <a:cs typeface="+mj-cs"/>
              <a:sym typeface="TheSans Swisscom Light" panose="020B0303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70CF0-C207-4D2C-9826-72332138C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 smtClean="0"/>
              <a:pPr/>
              <a:t>3</a:t>
            </a:fld>
            <a:endParaRPr lang="de-CH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1B1C7B-194D-455B-9A9E-0AFC6177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2800" dirty="0"/>
              <a:t>PQD – Prozesskomplexität und Herausforderungen</a:t>
            </a:r>
          </a:p>
        </p:txBody>
      </p:sp>
      <p:graphicFrame>
        <p:nvGraphicFramePr>
          <p:cNvPr id="42" name="Tabelle 15">
            <a:extLst>
              <a:ext uri="{FF2B5EF4-FFF2-40B4-BE49-F238E27FC236}">
                <a16:creationId xmlns:a16="http://schemas.microsoft.com/office/drawing/2014/main" id="{4E1D6EE4-E565-4923-8C94-C48A12944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896035"/>
              </p:ext>
            </p:extLst>
          </p:nvPr>
        </p:nvGraphicFramePr>
        <p:xfrm>
          <a:off x="1212590" y="1484313"/>
          <a:ext cx="3815728" cy="488519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11002">
                  <a:extLst>
                    <a:ext uri="{9D8B030D-6E8A-4147-A177-3AD203B41FA5}">
                      <a16:colId xmlns:a16="http://schemas.microsoft.com/office/drawing/2014/main" val="3961691327"/>
                    </a:ext>
                  </a:extLst>
                </a:gridCol>
                <a:gridCol w="2604726">
                  <a:extLst>
                    <a:ext uri="{9D8B030D-6E8A-4147-A177-3AD203B41FA5}">
                      <a16:colId xmlns:a16="http://schemas.microsoft.com/office/drawing/2014/main" val="1142550172"/>
                    </a:ext>
                  </a:extLst>
                </a:gridCol>
              </a:tblGrid>
              <a:tr h="311821">
                <a:tc gridSpan="2">
                  <a:txBody>
                    <a:bodyPr/>
                    <a:lstStyle/>
                    <a:p>
                      <a:r>
                        <a:rPr lang="de-CH" sz="1400" dirty="0"/>
                        <a:t>Prozesskomplexität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CH" sz="1400" dirty="0"/>
                    </a:p>
                  </a:txBody>
                  <a:tcPr>
                    <a:lnL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AB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16526"/>
                  </a:ext>
                </a:extLst>
              </a:tr>
              <a:tr h="3637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effectLst/>
                          <a:latin typeface="+mj-lt"/>
                        </a:rPr>
                        <a:t>Faktor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 dirty="0">
                          <a:effectLst/>
                          <a:latin typeface="+mj-lt"/>
                        </a:rPr>
                        <a:t>Beschreibung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634820"/>
                  </a:ext>
                </a:extLst>
              </a:tr>
              <a:tr h="5197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effectLst/>
                          <a:latin typeface="+mj-lt"/>
                        </a:rPr>
                        <a:t>Technologie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effectLst/>
                          <a:latin typeface="+mj-lt"/>
                        </a:rPr>
                        <a:t>RPA &amp; LLM (Gemini API). Ergänzend: Docker für die Moodle API Anbindung.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414321"/>
                  </a:ext>
                </a:extLst>
              </a:tr>
              <a:tr h="6756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effectLst/>
                          <a:latin typeface="+mj-lt"/>
                        </a:rPr>
                        <a:t># Klicks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effectLst/>
                          <a:latin typeface="+mj-lt"/>
                        </a:rPr>
                        <a:t>Sehr gering, da der Prozess manuell über einen „User Trigger“ in UiPath gestartet wird und danach autonom läuft.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112158"/>
                  </a:ext>
                </a:extLst>
              </a:tr>
              <a:tr h="83152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effectLst/>
                          <a:latin typeface="+mj-lt"/>
                        </a:rPr>
                        <a:t># Business Regeln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 dirty="0">
                          <a:effectLst/>
                          <a:latin typeface="+mj-lt"/>
                        </a:rPr>
                        <a:t>Mittel. Filterung nach Semester-Kategorie, Validierung der LLM-Antwort (Mindestlänge) und Entscheidungslogik für </a:t>
                      </a:r>
                      <a:r>
                        <a:rPr lang="de-CH" sz="1000" dirty="0" err="1">
                          <a:effectLst/>
                          <a:latin typeface="+mj-lt"/>
                        </a:rPr>
                        <a:t>Retries</a:t>
                      </a:r>
                      <a:r>
                        <a:rPr lang="de-CH" sz="1000" dirty="0">
                          <a:effectLst/>
                          <a:latin typeface="+mj-lt"/>
                        </a:rPr>
                        <a:t>.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557707"/>
                  </a:ext>
                </a:extLst>
              </a:tr>
              <a:tr h="6756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effectLst/>
                          <a:latin typeface="+mj-lt"/>
                        </a:rPr>
                        <a:t>Input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effectLst/>
                          <a:latin typeface="+mj-lt"/>
                        </a:rPr>
                        <a:t>Digital und strukturiert (JSON via Moodle API ) sowie unstrukturiert (Extraktion von Text aus Semester-PDFs ).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282254"/>
                  </a:ext>
                </a:extLst>
              </a:tr>
              <a:tr h="83152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effectLst/>
                          <a:latin typeface="+mj-lt"/>
                        </a:rPr>
                        <a:t>Risiko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effectLst/>
                          <a:latin typeface="+mj-lt"/>
                        </a:rPr>
                        <a:t>Gering, da es sich um ein Informationssystem für Studierende handelt (Lernmanagement). Hauptrisiko ist Know-how-Verlust.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939811"/>
                  </a:ext>
                </a:extLst>
              </a:tr>
              <a:tr h="6756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effectLst/>
                          <a:latin typeface="+mj-lt"/>
                        </a:rPr>
                        <a:t>Exceptions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 dirty="0">
                          <a:effectLst/>
                          <a:latin typeface="+mj-lt"/>
                        </a:rPr>
                        <a:t>Diverse technische Ausnahmen (API-Timeouts, ungültige LLM-Antworten, fehlende PDF-Dokumente).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095297"/>
                  </a:ext>
                </a:extLst>
              </a:tr>
            </a:tbl>
          </a:graphicData>
        </a:graphic>
      </p:graphicFrame>
      <p:graphicFrame>
        <p:nvGraphicFramePr>
          <p:cNvPr id="43" name="Tabelle 15">
            <a:extLst>
              <a:ext uri="{FF2B5EF4-FFF2-40B4-BE49-F238E27FC236}">
                <a16:creationId xmlns:a16="http://schemas.microsoft.com/office/drawing/2014/main" id="{DA6EC1D2-4CCD-44CC-8ED7-334C512C2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019594"/>
              </p:ext>
            </p:extLst>
          </p:nvPr>
        </p:nvGraphicFramePr>
        <p:xfrm>
          <a:off x="5255819" y="1495334"/>
          <a:ext cx="6455636" cy="48852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455636">
                  <a:extLst>
                    <a:ext uri="{9D8B030D-6E8A-4147-A177-3AD203B41FA5}">
                      <a16:colId xmlns:a16="http://schemas.microsoft.com/office/drawing/2014/main" val="3961691327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r>
                        <a:rPr lang="de-CH" sz="1400" dirty="0"/>
                        <a:t>Herausforderungen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1652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r>
                        <a:rPr lang="de-CH" sz="1000" b="1" dirty="0"/>
                        <a:t>System und Applikationen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634820"/>
                  </a:ext>
                </a:extLst>
              </a:tr>
              <a:tr h="1220400">
                <a:tc>
                  <a:txBody>
                    <a:bodyPr/>
                    <a:lstStyle/>
                    <a:p>
                      <a:r>
                        <a:rPr lang="de-CH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API-Verfügbarkeit:</a:t>
                      </a:r>
                      <a:r>
                        <a:rPr lang="de-CH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Der Prozess ist kritisch von der Erreichbarkeit der </a:t>
                      </a:r>
                      <a:r>
                        <a:rPr lang="de-CH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Moodle</a:t>
                      </a:r>
                      <a:r>
                        <a:rPr lang="de-CH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und Gemini-APIs abhängig.</a:t>
                      </a:r>
                    </a:p>
                    <a:p>
                      <a:r>
                        <a:rPr lang="de-CH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Session-Management:</a:t>
                      </a:r>
                      <a:r>
                        <a:rPr lang="de-CH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Automatische Re-Logins bei </a:t>
                      </a:r>
                      <a:r>
                        <a:rPr lang="de-CH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Moodle</a:t>
                      </a:r>
                      <a:r>
                        <a:rPr lang="de-CH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sind erforderlich, falls die Sitzung ungültig wird.</a:t>
                      </a:r>
                    </a:p>
                    <a:p>
                      <a:r>
                        <a:rPr lang="de-CH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LLM-Stabilität:</a:t>
                      </a:r>
                      <a:r>
                        <a:rPr lang="de-CH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Risiko von Timeouts oder fehlerhaften Formaten bei der KI-Antwort.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36569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r>
                        <a:rPr lang="de-CH" sz="1000" b="1" dirty="0"/>
                        <a:t>Prozess und Daten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112158"/>
                  </a:ext>
                </a:extLst>
              </a:tr>
              <a:tr h="1220400">
                <a:tc>
                  <a:txBody>
                    <a:bodyPr/>
                    <a:lstStyle/>
                    <a:p>
                      <a:r>
                        <a:rPr lang="de-CH" sz="1000" b="1" dirty="0"/>
                        <a:t>Datenextraktion:</a:t>
                      </a:r>
                      <a:r>
                        <a:rPr lang="de-CH" sz="1000" dirty="0"/>
                        <a:t> Schwierigkeit, in unterschiedlichen Kurs-Layouts den korrekten Link zum Semesterinformations-PDF zu finden.</a:t>
                      </a:r>
                    </a:p>
                    <a:p>
                      <a:r>
                        <a:rPr lang="de-CH" sz="1000" b="1" dirty="0"/>
                        <a:t>Validierung:</a:t>
                      </a:r>
                      <a:r>
                        <a:rPr lang="de-CH" sz="1000" dirty="0"/>
                        <a:t> Sicherstellung, dass der generierte Lernplan eine ausreichende Qualität/Länge hat (</a:t>
                      </a:r>
                      <a:r>
                        <a:rPr lang="de-CH" sz="1000" dirty="0" err="1"/>
                        <a:t>Retry</a:t>
                      </a:r>
                      <a:r>
                        <a:rPr lang="de-CH" sz="1000" dirty="0"/>
                        <a:t>-Logik bei ungültigem Output).</a:t>
                      </a:r>
                    </a:p>
                    <a:p>
                      <a:r>
                        <a:rPr lang="de-CH" sz="1000" b="1" dirty="0"/>
                        <a:t>Datenvolumen:</a:t>
                      </a:r>
                      <a:r>
                        <a:rPr lang="de-CH" sz="1000" dirty="0"/>
                        <a:t> Bearbeitung von bis zu 20 Fällen pro Woche bei einer Dauer von ca. 15 Minuten pro Fall.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5577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r>
                        <a:rPr lang="de-CH" sz="1000" b="1" dirty="0"/>
                        <a:t>Weiteres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290724"/>
                  </a:ext>
                </a:extLst>
              </a:tr>
              <a:tr h="1220400">
                <a:tc>
                  <a:txBody>
                    <a:bodyPr/>
                    <a:lstStyle/>
                    <a:p>
                      <a:r>
                        <a:rPr lang="de-CH" sz="1000" b="1" dirty="0"/>
                        <a:t>Skalierbarkeit:</a:t>
                      </a:r>
                      <a:r>
                        <a:rPr lang="de-CH" sz="1000" dirty="0"/>
                        <a:t> Der Prozess spart ca. 35 Stunden pro Semester ein.</a:t>
                      </a:r>
                    </a:p>
                    <a:p>
                      <a:r>
                        <a:rPr lang="de-CH" sz="1000" b="1" dirty="0"/>
                        <a:t>Dokumentation:</a:t>
                      </a:r>
                      <a:r>
                        <a:rPr lang="de-CH" sz="1000" dirty="0"/>
                        <a:t> Die Pflege der Login-Daten und API-Keys erfolgt über Umgebungsvariablen.</a:t>
                      </a:r>
                    </a:p>
                    <a:p>
                      <a:endParaRPr lang="de-CH" sz="10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029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891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4C289-7D77-6E61-D634-8BCE408AD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09855B5-2A56-8FBB-5E7E-429A36FCE40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FD70BF3-08D5-4548-BE00-48AC18349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725DBC0-5B79-B88C-98CA-4F9B4EBBABE8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110000"/>
              </a:lnSpc>
            </a:pPr>
            <a:endParaRPr lang="de-CH" sz="2400" b="1" dirty="0">
              <a:solidFill>
                <a:schemeClr val="tx1"/>
              </a:solidFill>
              <a:latin typeface="TheSans Swisscom Light" panose="020B0303020202020204" pitchFamily="34" charset="0"/>
              <a:ea typeface="+mj-ea"/>
              <a:cs typeface="+mj-cs"/>
              <a:sym typeface="TheSans Swisscom Light" panose="020B0303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24E1F-A2CC-74F5-3ED5-91B06561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 smtClean="0"/>
              <a:pPr/>
              <a:t>4</a:t>
            </a:fld>
            <a:endParaRPr lang="de-CH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4A965311-592E-5EEC-E50D-E64E79A4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2800" dirty="0"/>
              <a:t>PQD – Prozesskomplexität und Herausforderungen</a:t>
            </a:r>
          </a:p>
        </p:txBody>
      </p:sp>
      <p:graphicFrame>
        <p:nvGraphicFramePr>
          <p:cNvPr id="43" name="Tabelle 15">
            <a:extLst>
              <a:ext uri="{FF2B5EF4-FFF2-40B4-BE49-F238E27FC236}">
                <a16:creationId xmlns:a16="http://schemas.microsoft.com/office/drawing/2014/main" id="{3432FA9E-3D04-7B81-AAFC-168BC71D17BC}"/>
              </a:ext>
            </a:extLst>
          </p:cNvPr>
          <p:cNvGraphicFramePr>
            <a:graphicFrameLocks noGrp="1"/>
          </p:cNvGraphicFramePr>
          <p:nvPr/>
        </p:nvGraphicFramePr>
        <p:xfrm>
          <a:off x="5255819" y="1495334"/>
          <a:ext cx="6455636" cy="48852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455636">
                  <a:extLst>
                    <a:ext uri="{9D8B030D-6E8A-4147-A177-3AD203B41FA5}">
                      <a16:colId xmlns:a16="http://schemas.microsoft.com/office/drawing/2014/main" val="3961691327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r>
                        <a:rPr lang="de-CH" sz="1400" dirty="0"/>
                        <a:t>Herausforderungen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1652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r>
                        <a:rPr lang="de-CH" sz="1000" b="1" dirty="0"/>
                        <a:t>System und Applikationen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634820"/>
                  </a:ext>
                </a:extLst>
              </a:tr>
              <a:tr h="1220400">
                <a:tc>
                  <a:txBody>
                    <a:bodyPr/>
                    <a:lstStyle/>
                    <a:p>
                      <a:r>
                        <a:rPr lang="de-CH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API-Verfügbarkeit:</a:t>
                      </a:r>
                      <a:r>
                        <a:rPr lang="de-CH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Der Prozess ist kritisch von der Erreichbarkeit der </a:t>
                      </a:r>
                      <a:r>
                        <a:rPr lang="de-CH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Moodle</a:t>
                      </a:r>
                      <a:r>
                        <a:rPr lang="de-CH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und Gemini-APIs abhängig.</a:t>
                      </a:r>
                    </a:p>
                    <a:p>
                      <a:r>
                        <a:rPr lang="de-CH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Session-Management:</a:t>
                      </a:r>
                      <a:r>
                        <a:rPr lang="de-CH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Automatische Re-Logins bei </a:t>
                      </a:r>
                      <a:r>
                        <a:rPr lang="de-CH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Moodle</a:t>
                      </a:r>
                      <a:r>
                        <a:rPr lang="de-CH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sind erforderlich, falls die Sitzung ungültig wird.</a:t>
                      </a:r>
                    </a:p>
                    <a:p>
                      <a:r>
                        <a:rPr lang="de-CH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LLM-Stabilität:</a:t>
                      </a:r>
                      <a:r>
                        <a:rPr lang="de-CH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Risiko von Timeouts oder fehlerhaften Formaten bei der KI-Antwort.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36569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r>
                        <a:rPr lang="de-CH" sz="1000" b="1" dirty="0"/>
                        <a:t>Prozess und Daten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112158"/>
                  </a:ext>
                </a:extLst>
              </a:tr>
              <a:tr h="1220400">
                <a:tc>
                  <a:txBody>
                    <a:bodyPr/>
                    <a:lstStyle/>
                    <a:p>
                      <a:r>
                        <a:rPr lang="de-CH" sz="1000" b="1" dirty="0"/>
                        <a:t>Datenextraktion:</a:t>
                      </a:r>
                      <a:r>
                        <a:rPr lang="de-CH" sz="1000" dirty="0"/>
                        <a:t> Schwierigkeit, in unterschiedlichen Kurs-Layouts den korrekten Link zum Semesterinformations-PDF zu finden.</a:t>
                      </a:r>
                    </a:p>
                    <a:p>
                      <a:r>
                        <a:rPr lang="de-CH" sz="1000" b="1" dirty="0"/>
                        <a:t>Validierung:</a:t>
                      </a:r>
                      <a:r>
                        <a:rPr lang="de-CH" sz="1000" dirty="0"/>
                        <a:t> Sicherstellung, dass der generierte Lernplan eine ausreichende Qualität/Länge hat (</a:t>
                      </a:r>
                      <a:r>
                        <a:rPr lang="de-CH" sz="1000" dirty="0" err="1"/>
                        <a:t>Retry</a:t>
                      </a:r>
                      <a:r>
                        <a:rPr lang="de-CH" sz="1000" dirty="0"/>
                        <a:t>-Logik bei ungültigem Output).</a:t>
                      </a:r>
                    </a:p>
                    <a:p>
                      <a:r>
                        <a:rPr lang="de-CH" sz="1000" b="1" dirty="0"/>
                        <a:t>Datenvolumen:</a:t>
                      </a:r>
                      <a:r>
                        <a:rPr lang="de-CH" sz="1000" dirty="0"/>
                        <a:t> Bearbeitung von bis zu 20 Fällen pro Woche bei einer Dauer von ca. 15 Minuten pro Fall.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5577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r>
                        <a:rPr lang="de-CH" sz="1000" b="1" dirty="0"/>
                        <a:t>Weiteres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290724"/>
                  </a:ext>
                </a:extLst>
              </a:tr>
              <a:tr h="1220400">
                <a:tc>
                  <a:txBody>
                    <a:bodyPr/>
                    <a:lstStyle/>
                    <a:p>
                      <a:r>
                        <a:rPr lang="de-CH" sz="1000" b="1" dirty="0"/>
                        <a:t>Skalierbarkeit:</a:t>
                      </a:r>
                      <a:r>
                        <a:rPr lang="de-CH" sz="1000" dirty="0"/>
                        <a:t> Der Prozess spart ca. 35 Stunden pro Semester ein.</a:t>
                      </a:r>
                    </a:p>
                    <a:p>
                      <a:r>
                        <a:rPr lang="de-CH" sz="1000" b="1" dirty="0"/>
                        <a:t>Dokumentation:</a:t>
                      </a:r>
                      <a:r>
                        <a:rPr lang="de-CH" sz="1000" dirty="0"/>
                        <a:t> Die Pflege der Login-Daten und API-Keys erfolgt über Umgebungsvariablen.</a:t>
                      </a:r>
                    </a:p>
                    <a:p>
                      <a:endParaRPr lang="de-CH" sz="10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029503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2D0E0FD5-5227-62FA-2F72-59490F802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364592"/>
              </p:ext>
            </p:extLst>
          </p:nvPr>
        </p:nvGraphicFramePr>
        <p:xfrm>
          <a:off x="1199455" y="1495335"/>
          <a:ext cx="3815729" cy="488520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84632">
                  <a:extLst>
                    <a:ext uri="{9D8B030D-6E8A-4147-A177-3AD203B41FA5}">
                      <a16:colId xmlns:a16="http://schemas.microsoft.com/office/drawing/2014/main" val="3961691327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1142550172"/>
                    </a:ext>
                  </a:extLst>
                </a:gridCol>
                <a:gridCol w="814873">
                  <a:extLst>
                    <a:ext uri="{9D8B030D-6E8A-4147-A177-3AD203B41FA5}">
                      <a16:colId xmlns:a16="http://schemas.microsoft.com/office/drawing/2014/main" val="304522367"/>
                    </a:ext>
                  </a:extLst>
                </a:gridCol>
              </a:tblGrid>
              <a:tr h="465257">
                <a:tc gridSpan="2">
                  <a:txBody>
                    <a:bodyPr/>
                    <a:lstStyle/>
                    <a:p>
                      <a:r>
                        <a:rPr lang="de-CH" sz="1400" dirty="0"/>
                        <a:t>Applikationen und Kompatibilität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CH" sz="1400" dirty="0"/>
                    </a:p>
                  </a:txBody>
                  <a:tcPr>
                    <a:lnL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ABA9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CH" sz="1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16526"/>
                  </a:ext>
                </a:extLst>
              </a:tr>
              <a:tr h="5428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Name</a:t>
                      </a:r>
                      <a:endParaRPr lang="de-CH" sz="10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Beschreibung</a:t>
                      </a:r>
                      <a:endParaRPr lang="de-CH" sz="10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Check</a:t>
                      </a:r>
                      <a:endParaRPr lang="de-CH" sz="10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634820"/>
                  </a:ext>
                </a:extLst>
              </a:tr>
              <a:tr h="77542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Moodle CLI/API</a:t>
                      </a:r>
                      <a:endParaRPr lang="de-CH" sz="10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Primäre Datenquelle für Kurse und Deadlines.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OK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365692"/>
                  </a:ext>
                </a:extLst>
              </a:tr>
              <a:tr h="10080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Gemini API</a:t>
                      </a:r>
                      <a:endParaRPr lang="de-CH" sz="10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LLM zur Verarbeitung der Rohdaten und Lernplanerstellung.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OK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112158"/>
                  </a:ext>
                </a:extLst>
              </a:tr>
              <a:tr h="77542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UiPath Studio</a:t>
                      </a:r>
                      <a:endParaRPr lang="de-CH" sz="10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Entwicklungsumgebung und Execution Engine.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OK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557707"/>
                  </a:ext>
                </a:extLst>
              </a:tr>
              <a:tr h="77542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Docker</a:t>
                      </a:r>
                      <a:endParaRPr lang="de-CH" sz="10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Hostet den Moodle API Server für den Zugriff.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OK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939811"/>
                  </a:ext>
                </a:extLst>
              </a:tr>
              <a:tr h="5428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Name</a:t>
                      </a:r>
                      <a:endParaRPr lang="de-CH" sz="10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Beschreibung</a:t>
                      </a:r>
                      <a:endParaRPr lang="de-CH" sz="10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de-CH" sz="1000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Check</a:t>
                      </a:r>
                      <a:endParaRPr lang="de-CH" sz="10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T="101600" marB="1016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095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026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FD70BF3-08D5-4548-BE00-48AC18349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FD70BF3-08D5-4548-BE00-48AC18349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ED1ACA0-E626-4FF2-858A-9C7A61CF5573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110000"/>
              </a:lnSpc>
            </a:pPr>
            <a:endParaRPr lang="de-CH" sz="2400" b="1" dirty="0">
              <a:solidFill>
                <a:schemeClr val="tx1"/>
              </a:solidFill>
              <a:latin typeface="TheSans Swisscom Light" panose="020B0303020202020204" pitchFamily="34" charset="0"/>
              <a:ea typeface="+mj-ea"/>
              <a:cs typeface="+mj-cs"/>
              <a:sym typeface="TheSans Swisscom Light" panose="020B0303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70CF0-C207-4D2C-9826-72332138C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de-CH" smtClean="0"/>
              <a:pPr/>
              <a:t>5</a:t>
            </a:fld>
            <a:endParaRPr lang="de-CH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1B1C7B-194D-455B-9A9E-0AFC61775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2800" dirty="0"/>
              <a:t>PQD – Automatisierungsziele und weitere Bemerkungen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85447E-578C-429F-B804-B058BA723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273217"/>
              </p:ext>
            </p:extLst>
          </p:nvPr>
        </p:nvGraphicFramePr>
        <p:xfrm>
          <a:off x="3741851" y="1483294"/>
          <a:ext cx="3869806" cy="4897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9806">
                  <a:extLst>
                    <a:ext uri="{9D8B030D-6E8A-4147-A177-3AD203B41FA5}">
                      <a16:colId xmlns:a16="http://schemas.microsoft.com/office/drawing/2014/main" val="2078858373"/>
                    </a:ext>
                  </a:extLst>
                </a:gridCol>
              </a:tblGrid>
              <a:tr h="28850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CH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Beschreibung der </a:t>
                      </a:r>
                      <a:r>
                        <a:rPr lang="de-CH" sz="1400" dirty="0"/>
                        <a:t>Automatisierungsziele</a:t>
                      </a:r>
                      <a:endParaRPr lang="de-CH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642843"/>
                  </a:ext>
                </a:extLst>
              </a:tr>
              <a:tr h="459005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Effizienzsteigerung:</a:t>
                      </a:r>
                      <a:r>
                        <a:rPr lang="de-CH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Ablösung des manuellen Herunterladens und Kopierens von Dokumenten und Terminen durch einen automatisierten Workflow.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Strukturierung unstrukturierter Daten:</a:t>
                      </a:r>
                      <a:r>
                        <a:rPr lang="de-CH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Umwandlung von PDF-Semesterinformationen und </a:t>
                      </a:r>
                      <a:r>
                        <a:rPr lang="de-CH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Moodle</a:t>
                      </a:r>
                      <a:r>
                        <a:rPr lang="de-CH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-Kursdetails in strukturierte, verwertbare Lern- und Projektpläne mittels Gemini API.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Skalierbarkeit:</a:t>
                      </a:r>
                      <a:r>
                        <a:rPr lang="de-CH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Ermöglicht die schnelle Bearbeitung von bis zu 20 Kursplanungen pro Woche ohne zusätzlichen personellen Aufwand.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Qualitätssicherung:</a:t>
                      </a:r>
                      <a:r>
                        <a:rPr lang="de-CH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Implementierung einer automatisierten Validierungslogik mit bis zu drei Wiederholungsversuchen bei unzureichender Datenqualität.</a:t>
                      </a:r>
                    </a:p>
                    <a:p>
                      <a:pPr marL="180000" lvl="0" algn="l"/>
                      <a:endParaRPr lang="de-CH" sz="1000" dirty="0"/>
                    </a:p>
                  </a:txBody>
                  <a:tcPr marL="90000" marR="90000" marT="90000" marB="90000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162954"/>
                  </a:ext>
                </a:extLst>
              </a:tr>
            </a:tbl>
          </a:graphicData>
        </a:graphic>
      </p:graphicFrame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5A21F202-9E2E-4813-AB7F-EDB85A2F8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310120"/>
              </p:ext>
            </p:extLst>
          </p:nvPr>
        </p:nvGraphicFramePr>
        <p:xfrm>
          <a:off x="1206482" y="1483294"/>
          <a:ext cx="2304257" cy="48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00">
                  <a:extLst>
                    <a:ext uri="{9D8B030D-6E8A-4147-A177-3AD203B41FA5}">
                      <a16:colId xmlns:a16="http://schemas.microsoft.com/office/drawing/2014/main" val="26239519"/>
                    </a:ext>
                  </a:extLst>
                </a:gridCol>
                <a:gridCol w="1998257">
                  <a:extLst>
                    <a:ext uri="{9D8B030D-6E8A-4147-A177-3AD203B41FA5}">
                      <a16:colId xmlns:a16="http://schemas.microsoft.com/office/drawing/2014/main" val="3006990594"/>
                    </a:ext>
                  </a:extLst>
                </a:gridCol>
              </a:tblGrid>
              <a:tr h="306000">
                <a:tc gridSpan="2">
                  <a:txBody>
                    <a:bodyPr/>
                    <a:lstStyle/>
                    <a:p>
                      <a:r>
                        <a:rPr lang="de-CH" sz="1400" dirty="0"/>
                        <a:t>Automatisierungsziele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CH" dirty="0"/>
                    </a:p>
                  </a:txBody>
                  <a:tcPr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43941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lvl="0" algn="l"/>
                      <a:r>
                        <a:rPr lang="de-CH" sz="1000" dirty="0"/>
                        <a:t>Kostenreduktion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5191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x</a:t>
                      </a:r>
                      <a:endParaRPr lang="de-CH" sz="1000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lvl="0" algn="l"/>
                      <a:r>
                        <a:rPr lang="de-CH" sz="1000" dirty="0"/>
                        <a:t>Produktivitätssteigerung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646148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x</a:t>
                      </a:r>
                      <a:endParaRPr lang="de-CH" sz="1000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lvl="0" algn="l"/>
                      <a:r>
                        <a:rPr lang="de-CH" sz="1000" dirty="0"/>
                        <a:t>Fehlerreduktion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03524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lvl="0" algn="l" defTabSz="914400" rtl="0" eaLnBrk="1" latinLnBrk="0" hangingPunct="1"/>
                      <a:r>
                        <a:rPr lang="de-CH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Compliance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079118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lvl="0" algn="l" defTabSz="914400" rtl="0" eaLnBrk="1" latinLnBrk="0" hangingPunct="1"/>
                      <a:r>
                        <a:rPr lang="de-CH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Liquiditätssteigerung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27591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x</a:t>
                      </a:r>
                      <a:endParaRPr lang="de-CH" sz="1000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lvl="0" algn="l" defTabSz="914400" rtl="0" eaLnBrk="1" latinLnBrk="0" hangingPunct="1"/>
                      <a:r>
                        <a:rPr lang="de-CH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Kundenzufriedenheit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280818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x</a:t>
                      </a:r>
                      <a:endParaRPr lang="de-CH" sz="1000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lvl="0" algn="l" defTabSz="914400" rtl="0" eaLnBrk="1" latinLnBrk="0" hangingPunct="1"/>
                      <a:r>
                        <a:rPr lang="de-CH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Mitarbeiterzufriedenheit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94394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x</a:t>
                      </a:r>
                      <a:endParaRPr lang="de-CH" sz="1000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lvl="0" algn="l" defTabSz="914400" rtl="0" eaLnBrk="1" latinLnBrk="0" hangingPunct="1"/>
                      <a:r>
                        <a:rPr lang="de-CH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24/7 Verarbeitung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90602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lvl="0" algn="l" defTabSz="914400" rtl="0" eaLnBrk="1" latinLnBrk="0" hangingPunct="1"/>
                      <a:r>
                        <a:rPr lang="de-CH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Ertragssteigerung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0026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lvl="0" algn="l" defTabSz="914400" rtl="0" eaLnBrk="1" latinLnBrk="0" hangingPunct="1"/>
                      <a:endParaRPr lang="de-CH" sz="1000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95323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CH" sz="1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TheSans Swisscom Ligh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365635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CH" sz="1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TheSans Swisscom Ligh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91316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CH" sz="1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TheSans Swisscom Ligh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3077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CH" sz="1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TheSans Swisscom Ligh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24087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de-CH" sz="1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TheSans Swisscom Ligh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33175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FB0326F-60A5-49A8-88F7-6D6E9EAC2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956300"/>
              </p:ext>
            </p:extLst>
          </p:nvPr>
        </p:nvGraphicFramePr>
        <p:xfrm>
          <a:off x="7842769" y="1483294"/>
          <a:ext cx="3869806" cy="4897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9806">
                  <a:extLst>
                    <a:ext uri="{9D8B030D-6E8A-4147-A177-3AD203B41FA5}">
                      <a16:colId xmlns:a16="http://schemas.microsoft.com/office/drawing/2014/main" val="2078858373"/>
                    </a:ext>
                  </a:extLst>
                </a:gridCol>
              </a:tblGrid>
              <a:tr h="28850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CH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Weitere Bemerkungen</a:t>
                      </a: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642843"/>
                  </a:ext>
                </a:extLst>
              </a:tr>
              <a:tr h="459005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Technischer Stack:</a:t>
                      </a:r>
                      <a:r>
                        <a:rPr lang="de-CH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Die Lösung nutzt eine Kombination aus </a:t>
                      </a:r>
                      <a:r>
                        <a:rPr lang="de-CH" sz="12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UiPath</a:t>
                      </a:r>
                      <a:r>
                        <a:rPr lang="de-CH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für die Orchestrierung, </a:t>
                      </a:r>
                      <a:r>
                        <a:rPr lang="de-CH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Docker/</a:t>
                      </a:r>
                      <a:r>
                        <a:rPr lang="de-CH" sz="12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Moodle</a:t>
                      </a:r>
                      <a:r>
                        <a:rPr lang="de-CH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CLI</a:t>
                      </a:r>
                      <a:r>
                        <a:rPr lang="de-CH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für den Datenzugriff und die </a:t>
                      </a:r>
                      <a:r>
                        <a:rPr lang="de-CH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Gemini API</a:t>
                      </a:r>
                      <a:r>
                        <a:rPr lang="de-CH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für die kognitive Verarbeitung.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Zukünftiger Auslöser:</a:t>
                      </a:r>
                      <a:r>
                        <a:rPr lang="de-CH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Der Prozess ist als "</a:t>
                      </a:r>
                      <a:r>
                        <a:rPr lang="de-CH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Attended</a:t>
                      </a:r>
                      <a:r>
                        <a:rPr lang="de-CH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Automation" konzipiert, die manuell durch den Benutzer via Start-Taste in </a:t>
                      </a:r>
                      <a:r>
                        <a:rPr lang="de-CH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UiPath</a:t>
                      </a:r>
                      <a:r>
                        <a:rPr lang="de-CH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ausgelöst wird.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Reporting:</a:t>
                      </a:r>
                      <a:r>
                        <a:rPr lang="de-CH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Nach erfolgreichem Durchlauf erfolgt der automatische Versand des Lernplans als PDF-Bericht per E-Mail an den Benutzer.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de-CH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Risikomanagement:</a:t>
                      </a:r>
                      <a:r>
                        <a:rPr lang="de-CH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Ein besonderes Augenmerk liegt auf der Sicherstellung des Know-how-Transfers vor dem Go-Live sowie der regelmäßigen Beurteilung von Betrugsrisiken im Prozess.</a:t>
                      </a:r>
                    </a:p>
                    <a:p>
                      <a:pPr marL="180000" lvl="0" algn="l"/>
                      <a:endParaRPr lang="de-CH" sz="1000" dirty="0"/>
                    </a:p>
                  </a:txBody>
                  <a:tcPr marL="90000" marR="90000" marT="90000" marB="90000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162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482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9">
            <a:extLst>
              <a:ext uri="{FF2B5EF4-FFF2-40B4-BE49-F238E27FC236}">
                <a16:creationId xmlns:a16="http://schemas.microsoft.com/office/drawing/2014/main" id="{9572A123-3FB5-42E4-96CD-EDA223347B3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46876" y="4725144"/>
            <a:ext cx="11292058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399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399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399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399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399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399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399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003399"/>
                </a:solidFill>
                <a:latin typeface="Arial" charset="0"/>
              </a:defRPr>
            </a:lvl9pPr>
          </a:lstStyle>
          <a:p>
            <a:r>
              <a:rPr lang="de-CH" dirty="0"/>
              <a:t>Vielen Dank für Ihre Aufmerksamkeit.</a:t>
            </a:r>
            <a:br>
              <a:rPr lang="de-CH" dirty="0"/>
            </a:br>
            <a:r>
              <a:rPr lang="de-CH" dirty="0"/>
              <a:t>Grazia </a:t>
            </a:r>
            <a:r>
              <a:rPr lang="de-CH" dirty="0" err="1"/>
              <a:t>fitg</a:t>
            </a:r>
            <a:r>
              <a:rPr lang="de-CH" dirty="0"/>
              <a:t> per </a:t>
            </a:r>
            <a:r>
              <a:rPr lang="de-CH" dirty="0" err="1"/>
              <a:t>l'attenziun</a:t>
            </a:r>
            <a:r>
              <a:rPr lang="de-CH" dirty="0"/>
              <a:t>.</a:t>
            </a:r>
            <a:br>
              <a:rPr lang="de-CH" dirty="0"/>
            </a:br>
            <a:r>
              <a:rPr lang="it-IT" dirty="0"/>
              <a:t>Grazie per l'attenzione.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24168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69499B-64B3-7FA6-E710-7E4D06967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A1AC12A-D50B-0B7B-C97D-E5A07A916C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FD70BF3-08D5-4548-BE00-48AC18349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CA81296-72D4-E49C-A79D-548DF8731A55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110000"/>
              </a:lnSpc>
            </a:pPr>
            <a:endParaRPr lang="de-CH" sz="2400" b="1" dirty="0">
              <a:solidFill>
                <a:schemeClr val="tx1"/>
              </a:solidFill>
              <a:latin typeface="TheSans Swisscom Light" panose="020B0303020202020204" pitchFamily="34" charset="0"/>
              <a:ea typeface="+mj-ea"/>
              <a:cs typeface="+mj-cs"/>
              <a:sym typeface="TheSans Swisscom Light" panose="020B0303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17849-CE10-F00B-6685-19F10722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8976" y="6231208"/>
            <a:ext cx="2844800" cy="476250"/>
          </a:xfrm>
        </p:spPr>
        <p:txBody>
          <a:bodyPr/>
          <a:lstStyle/>
          <a:p>
            <a:fld id="{8FF9B0DE-3FEB-4AA0-B465-B80EF7C1333D}" type="slidenum">
              <a:rPr lang="de-CH" smtClean="0">
                <a:latin typeface="+mj-lt"/>
              </a:rPr>
              <a:pPr/>
              <a:t>7</a:t>
            </a:fld>
            <a:endParaRPr lang="de-CH" dirty="0">
              <a:latin typeface="+mj-l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5128681-1DB8-5E4F-4CB1-35E361E1B0A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1891" y="342134"/>
            <a:ext cx="10510837" cy="719138"/>
          </a:xfrm>
        </p:spPr>
        <p:txBody>
          <a:bodyPr>
            <a:normAutofit/>
          </a:bodyPr>
          <a:lstStyle/>
          <a:p>
            <a:r>
              <a:rPr lang="de-CH" sz="2400" dirty="0"/>
              <a:t>PQD – Prozessübersicht und -informationen</a:t>
            </a:r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6E66F3F6-25CB-310E-380D-A42328E8D614}"/>
              </a:ext>
            </a:extLst>
          </p:cNvPr>
          <p:cNvGraphicFramePr>
            <a:graphicFrameLocks noGrp="1"/>
          </p:cNvGraphicFramePr>
          <p:nvPr/>
        </p:nvGraphicFramePr>
        <p:xfrm>
          <a:off x="911424" y="1484313"/>
          <a:ext cx="3815730" cy="520181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815730">
                  <a:extLst>
                    <a:ext uri="{9D8B030D-6E8A-4147-A177-3AD203B41FA5}">
                      <a16:colId xmlns:a16="http://schemas.microsoft.com/office/drawing/2014/main" val="1142550172"/>
                    </a:ext>
                  </a:extLst>
                </a:gridCol>
              </a:tblGrid>
              <a:tr h="323771">
                <a:tc>
                  <a:txBody>
                    <a:bodyPr/>
                    <a:lstStyle/>
                    <a:p>
                      <a:pPr algn="ctr"/>
                      <a:r>
                        <a:rPr lang="de-CH" sz="1400" dirty="0"/>
                        <a:t>Prozessablauf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16526"/>
                  </a:ext>
                </a:extLst>
              </a:tr>
              <a:tr h="4878045">
                <a:tc>
                  <a:txBody>
                    <a:bodyPr/>
                    <a:lstStyle/>
                    <a:p>
                      <a:r>
                        <a:rPr lang="en-US" sz="1200" dirty="0"/>
                        <a:t>[</a:t>
                      </a:r>
                      <a:r>
                        <a:rPr lang="en-US" sz="1200" dirty="0" err="1"/>
                        <a:t>Seite</a:t>
                      </a:r>
                      <a:r>
                        <a:rPr lang="en-US" sz="1200" dirty="0"/>
                        <a:t> 5]</a:t>
                      </a:r>
                      <a:endParaRPr lang="de-CH" sz="12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0634820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CBF43DB2-5FDB-B480-5B70-B57D59CAF1CE}"/>
              </a:ext>
            </a:extLst>
          </p:cNvPr>
          <p:cNvGraphicFramePr>
            <a:graphicFrameLocks noGrp="1"/>
          </p:cNvGraphicFramePr>
          <p:nvPr/>
        </p:nvGraphicFramePr>
        <p:xfrm>
          <a:off x="4871517" y="1486020"/>
          <a:ext cx="3815730" cy="520181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20327">
                  <a:extLst>
                    <a:ext uri="{9D8B030D-6E8A-4147-A177-3AD203B41FA5}">
                      <a16:colId xmlns:a16="http://schemas.microsoft.com/office/drawing/2014/main" val="3961691327"/>
                    </a:ext>
                  </a:extLst>
                </a:gridCol>
                <a:gridCol w="3295403">
                  <a:extLst>
                    <a:ext uri="{9D8B030D-6E8A-4147-A177-3AD203B41FA5}">
                      <a16:colId xmlns:a16="http://schemas.microsoft.com/office/drawing/2014/main" val="1142550172"/>
                    </a:ext>
                  </a:extLst>
                </a:gridCol>
              </a:tblGrid>
              <a:tr h="288503">
                <a:tc gridSpan="2">
                  <a:txBody>
                    <a:bodyPr/>
                    <a:lstStyle/>
                    <a:p>
                      <a:r>
                        <a:rPr lang="de-CH" sz="1400" dirty="0"/>
                        <a:t>Prozessbeschreibung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CH" sz="1400" dirty="0"/>
                    </a:p>
                  </a:txBody>
                  <a:tcPr>
                    <a:lnL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AB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1652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Benutzer startet den Bot-Prozess manuell.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063482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</a:t>
                      </a:r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und API </a:t>
                      </a:r>
                      <a:r>
                        <a:rPr lang="de-CH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keys</a:t>
                      </a:r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laden</a:t>
                      </a:r>
                      <a:endParaRPr lang="de-CH" sz="10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536569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Moodle Login</a:t>
                      </a:r>
                      <a:endParaRPr lang="de-CH" sz="10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5112158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Dashboard scannen: Kursliste extrahieren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85577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Nächster Kurs?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93981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JA: Kurs-Details </a:t>
                      </a:r>
                      <a:r>
                        <a:rPr lang="de-CH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scrapen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109529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Semesterinformation PDF suchen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3217295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Semesterinformation </a:t>
                      </a:r>
                      <a:r>
                        <a:rPr lang="de-CH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scrapen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499339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Daten an LLM senden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0556918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Validierung</a:t>
                      </a:r>
                      <a:endParaRPr lang="de-CH" sz="10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548104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Invalid &amp; </a:t>
                      </a:r>
                      <a:r>
                        <a:rPr lang="de-CH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Retry</a:t>
                      </a:r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&lt; 3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4318322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Invalid &amp; </a:t>
                      </a:r>
                      <a:r>
                        <a:rPr lang="de-CH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Retry</a:t>
                      </a:r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&gt;= 3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699855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Valid</a:t>
                      </a:r>
                      <a:endParaRPr lang="de-CH" sz="10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979555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Rücksprung zur Kursprüfung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3923647"/>
                  </a:ext>
                </a:extLst>
              </a:tr>
              <a:tr h="306508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NEIN: Abschluss-E-Mail schreiben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9495219"/>
                  </a:ext>
                </a:extLst>
              </a:tr>
              <a:tr h="306508">
                <a:tc>
                  <a:txBody>
                    <a:bodyPr/>
                    <a:lstStyle/>
                    <a:p>
                      <a:pPr algn="ctr"/>
                      <a:endParaRPr lang="de-CH" sz="1000" b="1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Ende</a:t>
                      </a:r>
                      <a:endParaRPr lang="de-CH" sz="400" dirty="0"/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918477"/>
                  </a:ext>
                </a:extLst>
              </a:tr>
            </a:tbl>
          </a:graphicData>
        </a:graphic>
      </p:graphicFrame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A16C449C-6DC0-9BDA-2896-D45D78822DDA}"/>
              </a:ext>
            </a:extLst>
          </p:cNvPr>
          <p:cNvGraphicFramePr>
            <a:graphicFrameLocks noGrp="1"/>
          </p:cNvGraphicFramePr>
          <p:nvPr/>
        </p:nvGraphicFramePr>
        <p:xfrm>
          <a:off x="8831610" y="1486020"/>
          <a:ext cx="2591118" cy="18897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3961691327"/>
                    </a:ext>
                  </a:extLst>
                </a:gridCol>
                <a:gridCol w="1294974">
                  <a:extLst>
                    <a:ext uri="{9D8B030D-6E8A-4147-A177-3AD203B41FA5}">
                      <a16:colId xmlns:a16="http://schemas.microsoft.com/office/drawing/2014/main" val="1142550172"/>
                    </a:ext>
                  </a:extLst>
                </a:gridCol>
              </a:tblGrid>
              <a:tr h="288503">
                <a:tc gridSpan="2">
                  <a:txBody>
                    <a:bodyPr/>
                    <a:lstStyle/>
                    <a:p>
                      <a:r>
                        <a:rPr lang="de-CH" sz="1400" dirty="0">
                          <a:latin typeface="+mj-lt"/>
                        </a:rPr>
                        <a:t>Stakeholder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CH" sz="1400" dirty="0"/>
                    </a:p>
                  </a:txBody>
                  <a:tcPr>
                    <a:lnL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AB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1652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r>
                        <a:rPr lang="de-CH" sz="1000" dirty="0">
                          <a:latin typeface="+mj-lt"/>
                        </a:rPr>
                        <a:t>Projektleiter / RPA Business Analyst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>
                          <a:latin typeface="+mj-lt"/>
                        </a:rPr>
                        <a:t>Florin Gartmann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063482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r>
                        <a:rPr lang="de-CH" sz="1000" dirty="0">
                          <a:latin typeface="+mj-lt"/>
                        </a:rPr>
                        <a:t>Prozessverantwortlicher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Oliver Schütz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536569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r>
                        <a:rPr lang="de-CH" sz="1000" dirty="0">
                          <a:latin typeface="+mj-lt"/>
                        </a:rPr>
                        <a:t>Teamleiter/Sachbearbeiter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C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Alessio De Icco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5112158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r>
                        <a:rPr lang="de-CH" sz="1000" dirty="0">
                          <a:latin typeface="+mj-lt"/>
                        </a:rPr>
                        <a:t>RPA Entwickler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Michal </a:t>
                      </a:r>
                      <a:r>
                        <a:rPr lang="de-CH" sz="1000" b="0" i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Karczmarzyk</a:t>
                      </a:r>
                      <a:endParaRPr kumimoji="0" lang="de-CH" sz="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33333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8557707"/>
                  </a:ext>
                </a:extLst>
              </a:tr>
            </a:tbl>
          </a:graphicData>
        </a:graphic>
      </p:graphicFrame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A0050964-381E-3FB9-66E8-C789747B4FA4}"/>
              </a:ext>
            </a:extLst>
          </p:cNvPr>
          <p:cNvGraphicFramePr>
            <a:graphicFrameLocks noGrp="1"/>
          </p:cNvGraphicFramePr>
          <p:nvPr/>
        </p:nvGraphicFramePr>
        <p:xfrm>
          <a:off x="8818976" y="3356992"/>
          <a:ext cx="2591118" cy="333084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3961691327"/>
                    </a:ext>
                  </a:extLst>
                </a:gridCol>
                <a:gridCol w="1366982">
                  <a:extLst>
                    <a:ext uri="{9D8B030D-6E8A-4147-A177-3AD203B41FA5}">
                      <a16:colId xmlns:a16="http://schemas.microsoft.com/office/drawing/2014/main" val="1142550172"/>
                    </a:ext>
                  </a:extLst>
                </a:gridCol>
              </a:tblGrid>
              <a:tr h="307515">
                <a:tc gridSpan="2">
                  <a:txBody>
                    <a:bodyPr/>
                    <a:lstStyle/>
                    <a:p>
                      <a:r>
                        <a:rPr lang="de-CH" sz="1400" dirty="0"/>
                        <a:t>Prozessinformationen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CH" sz="1400" dirty="0"/>
                    </a:p>
                  </a:txBody>
                  <a:tcPr>
                    <a:lnL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EAB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AB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16526"/>
                  </a:ext>
                </a:extLst>
              </a:tr>
              <a:tr h="308725">
                <a:tc>
                  <a:txBody>
                    <a:bodyPr/>
                    <a:lstStyle/>
                    <a:p>
                      <a:r>
                        <a:rPr lang="de-CH" sz="1000" dirty="0"/>
                        <a:t>Frequenz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Wöchentlich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0634820"/>
                  </a:ext>
                </a:extLst>
              </a:tr>
              <a:tr h="308725">
                <a:tc>
                  <a:txBody>
                    <a:bodyPr/>
                    <a:lstStyle/>
                    <a:p>
                      <a:r>
                        <a:rPr lang="de-CH" sz="1000" dirty="0"/>
                        <a:t>Zeitpunkt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Beliebig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5365692"/>
                  </a:ext>
                </a:extLst>
              </a:tr>
              <a:tr h="308725">
                <a:tc>
                  <a:txBody>
                    <a:bodyPr/>
                    <a:lstStyle/>
                    <a:p>
                      <a:r>
                        <a:rPr lang="de-CH" sz="1000" dirty="0"/>
                        <a:t>Prozessdauer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15 min. / Fall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5112158"/>
                  </a:ext>
                </a:extLst>
              </a:tr>
              <a:tr h="308725">
                <a:tc>
                  <a:txBody>
                    <a:bodyPr/>
                    <a:lstStyle/>
                    <a:p>
                      <a:r>
                        <a:rPr lang="de-CH" sz="1000" dirty="0"/>
                        <a:t>Prozessvolumen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dirty="0"/>
                        <a:t>10 Fälle / Woche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717471"/>
                  </a:ext>
                </a:extLst>
              </a:tr>
              <a:tr h="308725">
                <a:tc>
                  <a:txBody>
                    <a:bodyPr/>
                    <a:lstStyle/>
                    <a:p>
                      <a:r>
                        <a:rPr lang="de-CH" sz="1000" dirty="0"/>
                        <a:t>Max. Volumen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dirty="0"/>
                        <a:t>20 Fälle / Woche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8557707"/>
                  </a:ext>
                </a:extLst>
              </a:tr>
              <a:tr h="308725">
                <a:tc>
                  <a:txBody>
                    <a:bodyPr/>
                    <a:lstStyle/>
                    <a:p>
                      <a:r>
                        <a:rPr lang="de-CH" sz="1000" dirty="0"/>
                        <a:t>SLA pro Fall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CH" sz="1000" dirty="0"/>
                        <a:t>Sofort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012044"/>
                  </a:ext>
                </a:extLst>
              </a:tr>
              <a:tr h="553526">
                <a:tc>
                  <a:txBody>
                    <a:bodyPr/>
                    <a:lstStyle/>
                    <a:p>
                      <a:r>
                        <a:rPr lang="de-CH" sz="1000" dirty="0"/>
                        <a:t>Anzahl automatisierbare Prozessstunden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35h/Semester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939811"/>
                  </a:ext>
                </a:extLst>
              </a:tr>
              <a:tr h="308725">
                <a:tc>
                  <a:txBody>
                    <a:bodyPr/>
                    <a:lstStyle/>
                    <a:p>
                      <a:r>
                        <a:rPr lang="de-CH" sz="1000" dirty="0"/>
                        <a:t>Frequenz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Wöchentlich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5411146"/>
                  </a:ext>
                </a:extLst>
              </a:tr>
              <a:tr h="308725">
                <a:tc>
                  <a:txBody>
                    <a:bodyPr/>
                    <a:lstStyle/>
                    <a:p>
                      <a:r>
                        <a:rPr lang="de-CH" sz="1000" dirty="0"/>
                        <a:t>Kundendaten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/>
                        <a:t>Ja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555506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0EB7E9-E069-5097-396D-BAD64BA7009F}"/>
              </a:ext>
            </a:extLst>
          </p:cNvPr>
          <p:cNvGraphicFramePr>
            <a:graphicFrameLocks noGrp="1"/>
          </p:cNvGraphicFramePr>
          <p:nvPr/>
        </p:nvGraphicFramePr>
        <p:xfrm>
          <a:off x="7823498" y="410760"/>
          <a:ext cx="4033142" cy="3060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80814">
                  <a:extLst>
                    <a:ext uri="{9D8B030D-6E8A-4147-A177-3AD203B41FA5}">
                      <a16:colId xmlns:a16="http://schemas.microsoft.com/office/drawing/2014/main" val="4041325946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47720689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algn="r"/>
                      <a:r>
                        <a:rPr lang="de-CH" sz="1000" dirty="0"/>
                        <a:t>Komplexität: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CH" sz="1000" dirty="0">
                          <a:solidFill>
                            <a:schemeClr val="tx1"/>
                          </a:solidFill>
                        </a:rPr>
                        <a:t>Mittel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813026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17A4307C-67EC-156A-B2EF-43AA316D40B8}"/>
              </a:ext>
            </a:extLst>
          </p:cNvPr>
          <p:cNvGraphicFramePr>
            <a:graphicFrameLocks noGrp="1"/>
          </p:cNvGraphicFramePr>
          <p:nvPr/>
        </p:nvGraphicFramePr>
        <p:xfrm>
          <a:off x="7823498" y="769176"/>
          <a:ext cx="4033142" cy="5486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80814">
                  <a:extLst>
                    <a:ext uri="{9D8B030D-6E8A-4147-A177-3AD203B41FA5}">
                      <a16:colId xmlns:a16="http://schemas.microsoft.com/office/drawing/2014/main" val="4041325946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47720689"/>
                    </a:ext>
                  </a:extLst>
                </a:gridCol>
              </a:tblGrid>
              <a:tr h="499584">
                <a:tc>
                  <a:txBody>
                    <a:bodyPr/>
                    <a:lstStyle/>
                    <a:p>
                      <a:pPr algn="r"/>
                      <a:r>
                        <a:rPr lang="de-CH" sz="1000" dirty="0"/>
                        <a:t>Ziele: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de-DE" altLang="de-DE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Automatisierte Erstellung strukturierter Lernpläne aus </a:t>
                      </a:r>
                      <a:r>
                        <a:rPr kumimoji="0" lang="de-DE" altLang="de-DE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Moodle</a:t>
                      </a:r>
                      <a:r>
                        <a:rPr kumimoji="0" lang="de-DE" altLang="de-DE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-Daten </a:t>
                      </a: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de-DE" altLang="de-DE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Reduktion des manuellen Kopieraufwands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813026"/>
                  </a:ext>
                </a:extLst>
              </a:tr>
            </a:tbl>
          </a:graphicData>
        </a:graphic>
      </p:graphicFrame>
      <p:sp>
        <p:nvSpPr>
          <p:cNvPr id="14" name="Rechteck 6">
            <a:extLst>
              <a:ext uri="{FF2B5EF4-FFF2-40B4-BE49-F238E27FC236}">
                <a16:creationId xmlns:a16="http://schemas.microsoft.com/office/drawing/2014/main" id="{AFBD7A35-F392-3885-146D-6EF431E8E933}"/>
              </a:ext>
            </a:extLst>
          </p:cNvPr>
          <p:cNvSpPr/>
          <p:nvPr/>
        </p:nvSpPr>
        <p:spPr bwMode="gray">
          <a:xfrm>
            <a:off x="1187951" y="2047936"/>
            <a:ext cx="8865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dirty="0">
                <a:solidFill>
                  <a:schemeClr val="tx1"/>
                </a:solidFill>
                <a:latin typeface="+mj-lt"/>
              </a:rPr>
              <a:t>Privat Formulare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C90F29C-23C9-026E-50AD-6CE816470DA4}"/>
              </a:ext>
            </a:extLst>
          </p:cNvPr>
          <p:cNvSpPr/>
          <p:nvPr/>
        </p:nvSpPr>
        <p:spPr bwMode="gray">
          <a:xfrm>
            <a:off x="2357118" y="2047936"/>
            <a:ext cx="8865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dirty="0">
                <a:solidFill>
                  <a:schemeClr val="tx1"/>
                </a:solidFill>
                <a:latin typeface="+mj-lt"/>
              </a:rPr>
              <a:t>Firmen Formulare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4152F60-34FF-8C91-AA14-DF704C6B73E0}"/>
              </a:ext>
            </a:extLst>
          </p:cNvPr>
          <p:cNvSpPr/>
          <p:nvPr/>
        </p:nvSpPr>
        <p:spPr bwMode="gray">
          <a:xfrm>
            <a:off x="3526284" y="2047936"/>
            <a:ext cx="8865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dirty="0">
                <a:solidFill>
                  <a:schemeClr val="tx1"/>
                </a:solidFill>
                <a:latin typeface="+mj-lt"/>
              </a:rPr>
              <a:t>Weitere Formulare</a:t>
            </a: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B2160EE2-AAA3-DA5E-CBD0-48A71459E143}"/>
              </a:ext>
            </a:extLst>
          </p:cNvPr>
          <p:cNvSpPr/>
          <p:nvPr/>
        </p:nvSpPr>
        <p:spPr bwMode="gray">
          <a:xfrm>
            <a:off x="1966072" y="1939299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20" name="Flussdiagramm: Verzweigung 8">
            <a:extLst>
              <a:ext uri="{FF2B5EF4-FFF2-40B4-BE49-F238E27FC236}">
                <a16:creationId xmlns:a16="http://schemas.microsoft.com/office/drawing/2014/main" id="{723D7AE3-8ACC-51A6-3211-DE9CFE3EB9AE}"/>
              </a:ext>
            </a:extLst>
          </p:cNvPr>
          <p:cNvSpPr/>
          <p:nvPr/>
        </p:nvSpPr>
        <p:spPr bwMode="gray">
          <a:xfrm>
            <a:off x="1922892" y="2590155"/>
            <a:ext cx="1764056" cy="504056"/>
          </a:xfrm>
          <a:prstGeom prst="flowChartDecision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dirty="0">
                <a:solidFill>
                  <a:schemeClr val="tx1"/>
                </a:solidFill>
                <a:latin typeface="+mj-lt"/>
              </a:rPr>
              <a:t>Gültiges Dokument?</a:t>
            </a: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9247B9E5-0C1C-FEDE-0C5B-1F29EB2EE920}"/>
              </a:ext>
            </a:extLst>
          </p:cNvPr>
          <p:cNvSpPr/>
          <p:nvPr/>
        </p:nvSpPr>
        <p:spPr bwMode="gray">
          <a:xfrm>
            <a:off x="3137940" y="1938797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9119C381-124A-E5FE-C39E-9B4CE598C072}"/>
              </a:ext>
            </a:extLst>
          </p:cNvPr>
          <p:cNvSpPr/>
          <p:nvPr/>
        </p:nvSpPr>
        <p:spPr bwMode="gray">
          <a:xfrm>
            <a:off x="4306938" y="1938797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BE586DCA-FF8B-E4C7-8BB5-CE28786EB60B}"/>
              </a:ext>
            </a:extLst>
          </p:cNvPr>
          <p:cNvSpPr/>
          <p:nvPr/>
        </p:nvSpPr>
        <p:spPr bwMode="gray">
          <a:xfrm>
            <a:off x="3214986" y="2596003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cxnSp>
        <p:nvCxnSpPr>
          <p:cNvPr id="30" name="Verbinder: gewinkelt 46">
            <a:extLst>
              <a:ext uri="{FF2B5EF4-FFF2-40B4-BE49-F238E27FC236}">
                <a16:creationId xmlns:a16="http://schemas.microsoft.com/office/drawing/2014/main" id="{D82B12C6-C8B1-547A-51AA-70C9FD3A2037}"/>
              </a:ext>
            </a:extLst>
          </p:cNvPr>
          <p:cNvCxnSpPr>
            <a:stCxn id="14" idx="2"/>
            <a:endCxn id="20" idx="0"/>
          </p:cNvCxnSpPr>
          <p:nvPr/>
        </p:nvCxnSpPr>
        <p:spPr bwMode="gray">
          <a:xfrm rot="16200000" flipH="1">
            <a:off x="2126981" y="1912215"/>
            <a:ext cx="182179" cy="1173699"/>
          </a:xfrm>
          <a:prstGeom prst="bentConnector3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Verbinder: gewinkelt 47">
            <a:extLst>
              <a:ext uri="{FF2B5EF4-FFF2-40B4-BE49-F238E27FC236}">
                <a16:creationId xmlns:a16="http://schemas.microsoft.com/office/drawing/2014/main" id="{1D131F35-6AAB-AC7D-41C9-8BA882FD856A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 bwMode="gray">
          <a:xfrm rot="5400000">
            <a:off x="3296148" y="1916748"/>
            <a:ext cx="182179" cy="1164634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77">
            <a:extLst>
              <a:ext uri="{FF2B5EF4-FFF2-40B4-BE49-F238E27FC236}">
                <a16:creationId xmlns:a16="http://schemas.microsoft.com/office/drawing/2014/main" id="{F80CCE33-6D19-9EB5-7B18-CF50A05F8061}"/>
              </a:ext>
            </a:extLst>
          </p:cNvPr>
          <p:cNvCxnSpPr>
            <a:cxnSpLocks/>
            <a:stCxn id="16" idx="2"/>
            <a:endCxn id="20" idx="0"/>
          </p:cNvCxnSpPr>
          <p:nvPr/>
        </p:nvCxnSpPr>
        <p:spPr bwMode="gray">
          <a:xfrm>
            <a:off x="2800388" y="2407976"/>
            <a:ext cx="4532" cy="18217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8">
            <a:extLst>
              <a:ext uri="{FF2B5EF4-FFF2-40B4-BE49-F238E27FC236}">
                <a16:creationId xmlns:a16="http://schemas.microsoft.com/office/drawing/2014/main" id="{08878FD3-BE31-C94A-C986-B3DDDDEC5684}"/>
              </a:ext>
            </a:extLst>
          </p:cNvPr>
          <p:cNvSpPr/>
          <p:nvPr/>
        </p:nvSpPr>
        <p:spPr bwMode="gray">
          <a:xfrm>
            <a:off x="5023157" y="1833166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id="{B5796EB6-A372-CB97-8198-3E3E109B84AA}"/>
              </a:ext>
            </a:extLst>
          </p:cNvPr>
          <p:cNvSpPr/>
          <p:nvPr/>
        </p:nvSpPr>
        <p:spPr bwMode="gray">
          <a:xfrm>
            <a:off x="5023157" y="2139564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41" name="Rectangle 8">
            <a:extLst>
              <a:ext uri="{FF2B5EF4-FFF2-40B4-BE49-F238E27FC236}">
                <a16:creationId xmlns:a16="http://schemas.microsoft.com/office/drawing/2014/main" id="{DECED93E-2721-0106-549B-1DEFA0DB76AF}"/>
              </a:ext>
            </a:extLst>
          </p:cNvPr>
          <p:cNvSpPr/>
          <p:nvPr/>
        </p:nvSpPr>
        <p:spPr bwMode="gray">
          <a:xfrm>
            <a:off x="5023157" y="2445962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43" name="Rectangle 8">
            <a:extLst>
              <a:ext uri="{FF2B5EF4-FFF2-40B4-BE49-F238E27FC236}">
                <a16:creationId xmlns:a16="http://schemas.microsoft.com/office/drawing/2014/main" id="{5C66C092-346D-EB7D-9815-6EC2D1A1B335}"/>
              </a:ext>
            </a:extLst>
          </p:cNvPr>
          <p:cNvSpPr/>
          <p:nvPr/>
        </p:nvSpPr>
        <p:spPr bwMode="gray">
          <a:xfrm>
            <a:off x="5023157" y="3058758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5</a:t>
            </a:r>
          </a:p>
        </p:txBody>
      </p:sp>
      <p:sp>
        <p:nvSpPr>
          <p:cNvPr id="44" name="Rectangle 8">
            <a:extLst>
              <a:ext uri="{FF2B5EF4-FFF2-40B4-BE49-F238E27FC236}">
                <a16:creationId xmlns:a16="http://schemas.microsoft.com/office/drawing/2014/main" id="{3CF9B6A7-19BD-6E66-6F2B-B1FBD65D382C}"/>
              </a:ext>
            </a:extLst>
          </p:cNvPr>
          <p:cNvSpPr/>
          <p:nvPr/>
        </p:nvSpPr>
        <p:spPr bwMode="gray">
          <a:xfrm>
            <a:off x="5023157" y="3365156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6</a:t>
            </a:r>
          </a:p>
        </p:txBody>
      </p:sp>
      <p:sp>
        <p:nvSpPr>
          <p:cNvPr id="45" name="Rectangle 8">
            <a:extLst>
              <a:ext uri="{FF2B5EF4-FFF2-40B4-BE49-F238E27FC236}">
                <a16:creationId xmlns:a16="http://schemas.microsoft.com/office/drawing/2014/main" id="{5356A450-E787-CDA6-9195-0E3D185A8DD3}"/>
              </a:ext>
            </a:extLst>
          </p:cNvPr>
          <p:cNvSpPr/>
          <p:nvPr/>
        </p:nvSpPr>
        <p:spPr bwMode="gray">
          <a:xfrm>
            <a:off x="5023157" y="3671554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7</a:t>
            </a:r>
          </a:p>
        </p:txBody>
      </p:sp>
      <p:sp>
        <p:nvSpPr>
          <p:cNvPr id="46" name="Rectangle 8">
            <a:extLst>
              <a:ext uri="{FF2B5EF4-FFF2-40B4-BE49-F238E27FC236}">
                <a16:creationId xmlns:a16="http://schemas.microsoft.com/office/drawing/2014/main" id="{A8D2EBCB-129F-54F1-805A-74D932F95CBF}"/>
              </a:ext>
            </a:extLst>
          </p:cNvPr>
          <p:cNvSpPr/>
          <p:nvPr/>
        </p:nvSpPr>
        <p:spPr bwMode="gray">
          <a:xfrm>
            <a:off x="5023157" y="4590748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10</a:t>
            </a:r>
          </a:p>
        </p:txBody>
      </p:sp>
      <p:sp>
        <p:nvSpPr>
          <p:cNvPr id="47" name="Rectangle 8">
            <a:extLst>
              <a:ext uri="{FF2B5EF4-FFF2-40B4-BE49-F238E27FC236}">
                <a16:creationId xmlns:a16="http://schemas.microsoft.com/office/drawing/2014/main" id="{0A4BA93B-7F72-5CDD-CF2A-9AA5F3523613}"/>
              </a:ext>
            </a:extLst>
          </p:cNvPr>
          <p:cNvSpPr/>
          <p:nvPr/>
        </p:nvSpPr>
        <p:spPr bwMode="gray">
          <a:xfrm>
            <a:off x="5023157" y="5203544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12</a:t>
            </a:r>
          </a:p>
        </p:txBody>
      </p:sp>
      <p:sp>
        <p:nvSpPr>
          <p:cNvPr id="48" name="Rectangle 8">
            <a:extLst>
              <a:ext uri="{FF2B5EF4-FFF2-40B4-BE49-F238E27FC236}">
                <a16:creationId xmlns:a16="http://schemas.microsoft.com/office/drawing/2014/main" id="{5E52DAE4-8DBA-5DFE-7C8E-BA360CC0C71E}"/>
              </a:ext>
            </a:extLst>
          </p:cNvPr>
          <p:cNvSpPr/>
          <p:nvPr/>
        </p:nvSpPr>
        <p:spPr bwMode="gray">
          <a:xfrm>
            <a:off x="5023157" y="3977952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8</a:t>
            </a:r>
          </a:p>
        </p:txBody>
      </p:sp>
      <p:sp>
        <p:nvSpPr>
          <p:cNvPr id="49" name="Rectangle 8">
            <a:extLst>
              <a:ext uri="{FF2B5EF4-FFF2-40B4-BE49-F238E27FC236}">
                <a16:creationId xmlns:a16="http://schemas.microsoft.com/office/drawing/2014/main" id="{DD0225B9-7007-E421-DD46-59BF17C8EA6B}"/>
              </a:ext>
            </a:extLst>
          </p:cNvPr>
          <p:cNvSpPr/>
          <p:nvPr/>
        </p:nvSpPr>
        <p:spPr bwMode="gray">
          <a:xfrm>
            <a:off x="5023157" y="4897146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11</a:t>
            </a:r>
          </a:p>
        </p:txBody>
      </p:sp>
      <p:sp>
        <p:nvSpPr>
          <p:cNvPr id="50" name="Rectangle 8">
            <a:extLst>
              <a:ext uri="{FF2B5EF4-FFF2-40B4-BE49-F238E27FC236}">
                <a16:creationId xmlns:a16="http://schemas.microsoft.com/office/drawing/2014/main" id="{938FAFDB-64D7-2A54-73AC-B1FEE02D6116}"/>
              </a:ext>
            </a:extLst>
          </p:cNvPr>
          <p:cNvSpPr/>
          <p:nvPr/>
        </p:nvSpPr>
        <p:spPr bwMode="gray">
          <a:xfrm>
            <a:off x="5023157" y="5509942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13</a:t>
            </a:r>
          </a:p>
        </p:txBody>
      </p:sp>
      <p:sp>
        <p:nvSpPr>
          <p:cNvPr id="51" name="Rectangle 8">
            <a:extLst>
              <a:ext uri="{FF2B5EF4-FFF2-40B4-BE49-F238E27FC236}">
                <a16:creationId xmlns:a16="http://schemas.microsoft.com/office/drawing/2014/main" id="{F1828024-25E1-C1EC-FD2C-08D69B3A1601}"/>
              </a:ext>
            </a:extLst>
          </p:cNvPr>
          <p:cNvSpPr/>
          <p:nvPr/>
        </p:nvSpPr>
        <p:spPr bwMode="gray">
          <a:xfrm>
            <a:off x="5023157" y="5816340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14</a:t>
            </a:r>
          </a:p>
        </p:txBody>
      </p:sp>
      <p:sp>
        <p:nvSpPr>
          <p:cNvPr id="52" name="Rectangle 8">
            <a:extLst>
              <a:ext uri="{FF2B5EF4-FFF2-40B4-BE49-F238E27FC236}">
                <a16:creationId xmlns:a16="http://schemas.microsoft.com/office/drawing/2014/main" id="{2E0E8BB8-1B6C-03A7-3B3F-577169BC2462}"/>
              </a:ext>
            </a:extLst>
          </p:cNvPr>
          <p:cNvSpPr/>
          <p:nvPr/>
        </p:nvSpPr>
        <p:spPr bwMode="gray">
          <a:xfrm>
            <a:off x="5023157" y="4284350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9</a:t>
            </a:r>
          </a:p>
        </p:txBody>
      </p:sp>
      <p:sp>
        <p:nvSpPr>
          <p:cNvPr id="53" name="Rectangle 8">
            <a:extLst>
              <a:ext uri="{FF2B5EF4-FFF2-40B4-BE49-F238E27FC236}">
                <a16:creationId xmlns:a16="http://schemas.microsoft.com/office/drawing/2014/main" id="{59E0696D-4D4E-D671-353A-AB357848B826}"/>
              </a:ext>
            </a:extLst>
          </p:cNvPr>
          <p:cNvSpPr/>
          <p:nvPr/>
        </p:nvSpPr>
        <p:spPr bwMode="gray">
          <a:xfrm>
            <a:off x="5023157" y="2752360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sp>
        <p:nvSpPr>
          <p:cNvPr id="54" name="Rectangle 8">
            <a:extLst>
              <a:ext uri="{FF2B5EF4-FFF2-40B4-BE49-F238E27FC236}">
                <a16:creationId xmlns:a16="http://schemas.microsoft.com/office/drawing/2014/main" id="{15337FA0-7BC3-8E13-AB23-7170EB0AABA7}"/>
              </a:ext>
            </a:extLst>
          </p:cNvPr>
          <p:cNvSpPr/>
          <p:nvPr/>
        </p:nvSpPr>
        <p:spPr bwMode="gray">
          <a:xfrm>
            <a:off x="5026540" y="6122743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69A923-7FA0-CF35-5B4E-3052746974C8}"/>
              </a:ext>
            </a:extLst>
          </p:cNvPr>
          <p:cNvSpPr/>
          <p:nvPr/>
        </p:nvSpPr>
        <p:spPr bwMode="gray">
          <a:xfrm>
            <a:off x="5023157" y="6429141"/>
            <a:ext cx="216000" cy="21602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de-CH" sz="1000" b="1" dirty="0">
                <a:solidFill>
                  <a:schemeClr val="bg1"/>
                </a:solidFill>
                <a:latin typeface="+mj-l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419389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Hjz61vZ3Z6RnwjtHebt_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Hjz61vZ3Z6RnwjtHebt_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Hjz61vZ3Z6RnwjtHebt_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Hjz61vZ3Z6RnwjtHebt_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Hjz61vZ3Z6RnwjtHebt_g"/>
</p:tagLst>
</file>

<file path=ppt/theme/theme1.xml><?xml version="1.0" encoding="utf-8"?>
<a:theme xmlns:a="http://schemas.openxmlformats.org/drawingml/2006/main" name="vorlage_fhgr">
  <a:themeElements>
    <a:clrScheme name="Neu">
      <a:dk1>
        <a:srgbClr val="000000"/>
      </a:dk1>
      <a:lt1>
        <a:srgbClr val="FFFFFF"/>
      </a:lt1>
      <a:dk2>
        <a:srgbClr val="3F3F3F"/>
      </a:dk2>
      <a:lt2>
        <a:srgbClr val="CCCCCC"/>
      </a:lt2>
      <a:accent1>
        <a:srgbClr val="4B92A4"/>
      </a:accent1>
      <a:accent2>
        <a:srgbClr val="B39048"/>
      </a:accent2>
      <a:accent3>
        <a:srgbClr val="C60219"/>
      </a:accent3>
      <a:accent4>
        <a:srgbClr val="817E65"/>
      </a:accent4>
      <a:accent5>
        <a:srgbClr val="CCCCCC"/>
      </a:accent5>
      <a:accent6>
        <a:srgbClr val="595959"/>
      </a:accent6>
      <a:hlink>
        <a:srgbClr val="4B92A4"/>
      </a:hlink>
      <a:folHlink>
        <a:srgbClr val="B3904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orlage_htwchur_2017">
        <a:dk1>
          <a:srgbClr val="000000"/>
        </a:dk1>
        <a:lt1>
          <a:srgbClr val="FFFFFF"/>
        </a:lt1>
        <a:dk2>
          <a:srgbClr val="3F3F3F"/>
        </a:dk2>
        <a:lt2>
          <a:srgbClr val="CCCCCC"/>
        </a:lt2>
        <a:accent1>
          <a:srgbClr val="4B92A4"/>
        </a:accent1>
        <a:accent2>
          <a:srgbClr val="B39048"/>
        </a:accent2>
        <a:accent3>
          <a:srgbClr val="C86E6F"/>
        </a:accent3>
        <a:accent4>
          <a:srgbClr val="003699"/>
        </a:accent4>
        <a:accent5>
          <a:srgbClr val="CCCCCC"/>
        </a:accent5>
        <a:accent6>
          <a:srgbClr val="595959"/>
        </a:accent6>
        <a:hlink>
          <a:srgbClr val="4B92A4"/>
        </a:hlink>
        <a:folHlink>
          <a:srgbClr val="B39048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_FHGR Folienmaster" id="{62573203-48AE-4BE9-8405-E885C7FF94B4}" vid="{AA1F9925-8F65-49C2-AE2C-A53676CD0831}"/>
    </a:ext>
  </a:ext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1_FHGR Folienmaster</Template>
  <TotalTime>0</TotalTime>
  <Words>994</Words>
  <Application>Microsoft Office PowerPoint</Application>
  <PresentationFormat>Breitbild</PresentationFormat>
  <Paragraphs>248</Paragraphs>
  <Slides>8</Slides>
  <Notes>6</Notes>
  <HiddenSlides>1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Arial</vt:lpstr>
      <vt:lpstr>Symbol</vt:lpstr>
      <vt:lpstr>TheSans Swisscom Light</vt:lpstr>
      <vt:lpstr>Times New Roman</vt:lpstr>
      <vt:lpstr>Wingdings</vt:lpstr>
      <vt:lpstr>vorlage_fhgr</vt:lpstr>
      <vt:lpstr>think-cell Slide</vt:lpstr>
      <vt:lpstr>RPA Prozessdokumentation – Moodle Lernplan</vt:lpstr>
      <vt:lpstr>PQD – Prozessübersicht und -informationen</vt:lpstr>
      <vt:lpstr>PowerPoint-Präsentation</vt:lpstr>
      <vt:lpstr>PQD – Prozesskomplexität und Herausforderungen</vt:lpstr>
      <vt:lpstr>PQD – Prozesskomplexität und Herausforderungen</vt:lpstr>
      <vt:lpstr>PQD – Automatisierungsziele und weitere Bemerkungen</vt:lpstr>
      <vt:lpstr>Vielen Dank für Ihre Aufmerksamkeit. Grazia fitg per l'attenziun. Grazie per l'attenzione.</vt:lpstr>
      <vt:lpstr>PQD – Prozessübersicht und -informationen</vt:lpstr>
    </vt:vector>
  </TitlesOfParts>
  <Company>HTW Chur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 steht der Titel</dc:title>
  <dc:creator>Krüger Sonja Lucia</dc:creator>
  <cp:lastModifiedBy>alessio de icco</cp:lastModifiedBy>
  <cp:revision>19</cp:revision>
  <cp:lastPrinted>2026-04-14T18:47:37Z</cp:lastPrinted>
  <dcterms:created xsi:type="dcterms:W3CDTF">2021-09-01T06:35:01Z</dcterms:created>
  <dcterms:modified xsi:type="dcterms:W3CDTF">2026-04-14T18:50:16Z</dcterms:modified>
</cp:coreProperties>
</file>